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8" d="100"/>
          <a:sy n="48" d="100"/>
        </p:scale>
        <p:origin x="90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9931-A997-427D-A06F-3980F90DA2D7}" type="datetimeFigureOut">
              <a:rPr lang="en-US" smtClean="0"/>
              <a:t>1/25/2014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7F32E-828C-4FCB-A1BB-E6C2D9F92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763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ythrough dir="out" hasBounce="1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9931-A997-427D-A06F-3980F90DA2D7}" type="datetimeFigureOut">
              <a:rPr lang="en-US" smtClean="0"/>
              <a:t>1/25/2014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7F32E-828C-4FCB-A1BB-E6C2D9F92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834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ythrough dir="out" hasBounce="1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9931-A997-427D-A06F-3980F90DA2D7}" type="datetimeFigureOut">
              <a:rPr lang="en-US" smtClean="0"/>
              <a:t>1/25/2014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7F32E-828C-4FCB-A1BB-E6C2D9F92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435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ythrough dir="out" hasBounce="1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9931-A997-427D-A06F-3980F90DA2D7}" type="datetimeFigureOut">
              <a:rPr lang="en-US" smtClean="0"/>
              <a:t>1/25/2014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7F32E-828C-4FCB-A1BB-E6C2D9F92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219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ythrough dir="out" hasBounce="1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9931-A997-427D-A06F-3980F90DA2D7}" type="datetimeFigureOut">
              <a:rPr lang="en-US" smtClean="0"/>
              <a:t>1/25/2014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7F32E-828C-4FCB-A1BB-E6C2D9F92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159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ythrough dir="out" hasBounce="1"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9931-A997-427D-A06F-3980F90DA2D7}" type="datetimeFigureOut">
              <a:rPr lang="en-US" smtClean="0"/>
              <a:t>1/25/2014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7F32E-828C-4FCB-A1BB-E6C2D9F92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925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ythrough dir="out" hasBounce="1"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9931-A997-427D-A06F-3980F90DA2D7}" type="datetimeFigureOut">
              <a:rPr lang="en-US" smtClean="0"/>
              <a:t>1/25/2014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7F32E-828C-4FCB-A1BB-E6C2D9F92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503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ythrough dir="out" hasBounce="1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9931-A997-427D-A06F-3980F90DA2D7}" type="datetimeFigureOut">
              <a:rPr lang="en-US" smtClean="0"/>
              <a:t>1/25/2014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7F32E-828C-4FCB-A1BB-E6C2D9F92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195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ythrough dir="out" hasBounce="1"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9931-A997-427D-A06F-3980F90DA2D7}" type="datetimeFigureOut">
              <a:rPr lang="en-US" smtClean="0"/>
              <a:t>1/25/2014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7F32E-828C-4FCB-A1BB-E6C2D9F92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31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ythrough dir="out" hasBounce="1"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9931-A997-427D-A06F-3980F90DA2D7}" type="datetimeFigureOut">
              <a:rPr lang="en-US" smtClean="0"/>
              <a:t>1/25/2014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7F32E-828C-4FCB-A1BB-E6C2D9F92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15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ythrough dir="out" hasBounce="1"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9931-A997-427D-A06F-3980F90DA2D7}" type="datetimeFigureOut">
              <a:rPr lang="en-US" smtClean="0"/>
              <a:t>1/25/2014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7F32E-828C-4FCB-A1BB-E6C2D9F92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1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ythrough dir="out" hasBounce="1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C9931-A997-427D-A06F-3980F90DA2D7}" type="datetimeFigureOut">
              <a:rPr lang="en-US" smtClean="0"/>
              <a:t>1/25/2014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7F32E-828C-4FCB-A1BB-E6C2D9F92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219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>
        <p14:flythrough dir="out" hasBounce="1"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075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ythrough dir="out" hasBounce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80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INTRODUCTION</a:t>
            </a:r>
            <a:endParaRPr lang="en-US" sz="8000" b="1" dirty="0">
              <a:solidFill>
                <a:schemeClr val="bg1"/>
              </a:solidFill>
              <a:latin typeface="Papyrus" panose="03070502060502030205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It is not a book for the light hearted. Can be very challenging</a:t>
            </a:r>
            <a:r>
              <a:rPr lang="en-US" sz="4000" b="1" smtClean="0">
                <a:solidFill>
                  <a:schemeClr val="bg1"/>
                </a:solidFill>
                <a:latin typeface="Papyrus" panose="03070502060502030205" pitchFamily="66" charset="0"/>
              </a:rPr>
              <a:t>, </a:t>
            </a:r>
            <a:r>
              <a:rPr lang="en-US" sz="4000" b="1" smtClean="0">
                <a:solidFill>
                  <a:schemeClr val="bg1"/>
                </a:solidFill>
                <a:latin typeface="Papyrus" panose="03070502060502030205" pitchFamily="66" charset="0"/>
              </a:rPr>
              <a:t>but </a:t>
            </a:r>
            <a:r>
              <a:rPr lang="en-US" sz="40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rewarding for those who dig deep.</a:t>
            </a:r>
          </a:p>
          <a:p>
            <a:r>
              <a:rPr lang="en-US" sz="40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We are reminded, impressed, and warned as Christians of what it means to be one.</a:t>
            </a:r>
          </a:p>
          <a:p>
            <a:r>
              <a:rPr lang="en-US" sz="40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It begins with a clarification of God’s will, progresses as a thoughtful sermon, and ends with a letter of encouragement.</a:t>
            </a:r>
            <a:endParaRPr lang="en-US" sz="4000" b="1" dirty="0">
              <a:solidFill>
                <a:schemeClr val="bg1"/>
              </a:solidFill>
              <a:latin typeface="Papyrus" panose="0307050206050203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899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ythrough dir="out" hasBounce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THE BACKGROUND</a:t>
            </a:r>
            <a:endParaRPr lang="en-US" sz="5400" b="1" dirty="0">
              <a:solidFill>
                <a:schemeClr val="bg1"/>
              </a:solidFill>
              <a:latin typeface="Papyrus" panose="03070502060502030205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en-US" sz="40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THE AUTHOR</a:t>
            </a:r>
          </a:p>
          <a:p>
            <a:pPr lvl="1"/>
            <a:r>
              <a:rPr lang="en-US" sz="36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Most believe its Paul</a:t>
            </a:r>
          </a:p>
          <a:p>
            <a:r>
              <a:rPr lang="en-US" sz="40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THE AUDIENCE </a:t>
            </a:r>
          </a:p>
          <a:p>
            <a:pPr lvl="1"/>
            <a:r>
              <a:rPr lang="en-US" sz="36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Jewish Christians</a:t>
            </a:r>
          </a:p>
          <a:p>
            <a:r>
              <a:rPr lang="en-US" sz="40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THE DATE </a:t>
            </a:r>
          </a:p>
          <a:p>
            <a:pPr lvl="1"/>
            <a:r>
              <a:rPr lang="en-US" sz="36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63-65 A.D.</a:t>
            </a:r>
          </a:p>
          <a:p>
            <a:r>
              <a:rPr lang="en-US" sz="40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THE REASON</a:t>
            </a:r>
          </a:p>
          <a:p>
            <a:pPr lvl="1"/>
            <a:r>
              <a:rPr lang="en-US" sz="36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To prevent the Jewish Christians from going back to Judaism</a:t>
            </a:r>
            <a:endParaRPr lang="en-US" sz="3600" b="1" dirty="0">
              <a:solidFill>
                <a:schemeClr val="bg1"/>
              </a:solidFill>
              <a:latin typeface="Papyrus" panose="0307050206050203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174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ythrough dir="out" hasBounce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THE PARTS OF THE BOOK</a:t>
            </a:r>
            <a:endParaRPr lang="en-US" b="1" dirty="0">
              <a:solidFill>
                <a:schemeClr val="bg1"/>
              </a:solidFill>
              <a:latin typeface="Papyrus" panose="03070502060502030205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991850" cy="5032375"/>
          </a:xfrm>
        </p:spPr>
        <p:txBody>
          <a:bodyPr>
            <a:normAutofit lnSpcReduction="10000"/>
          </a:bodyPr>
          <a:lstStyle/>
          <a:p>
            <a:r>
              <a:rPr lang="en-US" sz="40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The superiority of Christ </a:t>
            </a:r>
            <a:r>
              <a:rPr lang="en-US" sz="4000" b="1" dirty="0" err="1" smtClean="0">
                <a:solidFill>
                  <a:schemeClr val="bg1"/>
                </a:solidFill>
                <a:latin typeface="Papyrus" panose="03070502060502030205" pitchFamily="66" charset="0"/>
              </a:rPr>
              <a:t>Heb</a:t>
            </a:r>
            <a:r>
              <a:rPr lang="en-US" sz="40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 1:1-8:6</a:t>
            </a:r>
          </a:p>
          <a:p>
            <a:pPr lvl="1"/>
            <a:r>
              <a:rPr lang="en-US" sz="36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Christ is better than the prophets, angels, </a:t>
            </a:r>
            <a:r>
              <a:rPr lang="en-US" sz="3600" b="1" dirty="0" err="1" smtClean="0">
                <a:solidFill>
                  <a:schemeClr val="bg1"/>
                </a:solidFill>
                <a:latin typeface="Papyrus" panose="03070502060502030205" pitchFamily="66" charset="0"/>
              </a:rPr>
              <a:t>moses</a:t>
            </a:r>
            <a:r>
              <a:rPr lang="en-US" sz="36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, and priests</a:t>
            </a:r>
          </a:p>
          <a:p>
            <a:r>
              <a:rPr lang="en-US" sz="40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The superiority of the New Covenant </a:t>
            </a:r>
            <a:r>
              <a:rPr lang="en-US" sz="4000" b="1" dirty="0" err="1" smtClean="0">
                <a:solidFill>
                  <a:schemeClr val="bg1"/>
                </a:solidFill>
                <a:latin typeface="Papyrus" panose="03070502060502030205" pitchFamily="66" charset="0"/>
              </a:rPr>
              <a:t>Heb</a:t>
            </a:r>
            <a:r>
              <a:rPr lang="en-US" sz="40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 8:7-10:18</a:t>
            </a:r>
          </a:p>
          <a:p>
            <a:pPr lvl="1"/>
            <a:r>
              <a:rPr lang="en-US" sz="36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The New Covenant is better than the Old given to Moses</a:t>
            </a:r>
          </a:p>
          <a:p>
            <a:r>
              <a:rPr lang="en-US" sz="40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The superior exhortations </a:t>
            </a:r>
            <a:r>
              <a:rPr lang="en-US" sz="4000" b="1" dirty="0" err="1" smtClean="0">
                <a:solidFill>
                  <a:schemeClr val="bg1"/>
                </a:solidFill>
                <a:latin typeface="Papyrus" panose="03070502060502030205" pitchFamily="66" charset="0"/>
              </a:rPr>
              <a:t>Heb</a:t>
            </a:r>
            <a:r>
              <a:rPr lang="en-US" sz="40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 10:19-13:25</a:t>
            </a:r>
          </a:p>
          <a:p>
            <a:pPr lvl="1"/>
            <a:r>
              <a:rPr lang="en-US" sz="36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These are the best examples of what God desires</a:t>
            </a:r>
          </a:p>
        </p:txBody>
      </p:sp>
    </p:spTree>
    <p:extLst>
      <p:ext uri="{BB962C8B-B14F-4D97-AF65-F5344CB8AC3E}">
        <p14:creationId xmlns:p14="http://schemas.microsoft.com/office/powerpoint/2010/main" val="3764765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ythrough dir="out" hasBounce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KEY WARNINGS IN THE BOOK</a:t>
            </a:r>
            <a:endParaRPr lang="en-US" b="1" dirty="0">
              <a:solidFill>
                <a:schemeClr val="bg1"/>
              </a:solidFill>
              <a:latin typeface="Papyrus" panose="03070502060502030205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3775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Warning against drifting</a:t>
            </a:r>
          </a:p>
          <a:p>
            <a:r>
              <a:rPr lang="en-US" sz="40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Warning against departing</a:t>
            </a:r>
          </a:p>
          <a:p>
            <a:r>
              <a:rPr lang="en-US" sz="40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Warning against disobedience</a:t>
            </a:r>
          </a:p>
          <a:p>
            <a:r>
              <a:rPr lang="en-US" sz="40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Warning against dullness</a:t>
            </a:r>
          </a:p>
          <a:p>
            <a:r>
              <a:rPr lang="en-US" sz="40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Warning against despising</a:t>
            </a:r>
          </a:p>
          <a:p>
            <a:r>
              <a:rPr lang="en-US" sz="40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Warning against defying</a:t>
            </a:r>
            <a:endParaRPr lang="en-US" sz="4000" b="1" dirty="0">
              <a:solidFill>
                <a:schemeClr val="bg1"/>
              </a:solidFill>
              <a:latin typeface="Papyrus" panose="0307050206050203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313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ythrough dir="out" hasBounce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8925" y="340518"/>
            <a:ext cx="7543800" cy="688975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chemeClr val="bg1"/>
                </a:solidFill>
                <a:latin typeface="Papyrus" panose="03070502060502030205" pitchFamily="66" charset="0"/>
              </a:rPr>
              <a:t>THIS BOOK WILL</a:t>
            </a:r>
            <a:endParaRPr lang="en-US" sz="4800" b="1" dirty="0">
              <a:solidFill>
                <a:schemeClr val="bg1"/>
              </a:solidFill>
              <a:latin typeface="Papyrus" panose="03070502060502030205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00150" y="2023749"/>
            <a:ext cx="7581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smtClean="0">
                <a:solidFill>
                  <a:schemeClr val="bg1"/>
                </a:solidFill>
                <a:latin typeface="Papyrus" panose="03070502060502030205" pitchFamily="66" charset="0"/>
              </a:rPr>
              <a:t>REMIND US</a:t>
            </a:r>
            <a:endParaRPr lang="en-US" sz="7200" dirty="0">
              <a:solidFill>
                <a:schemeClr val="bg1"/>
              </a:solidFill>
              <a:latin typeface="Papyrus" panose="03070502060502030205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71848" y="3595817"/>
            <a:ext cx="77343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smtClean="0">
                <a:solidFill>
                  <a:schemeClr val="bg1"/>
                </a:solidFill>
                <a:latin typeface="Papyrus" panose="03070502060502030205" pitchFamily="66" charset="0"/>
              </a:rPr>
              <a:t>IMPRESS US</a:t>
            </a:r>
            <a:endParaRPr lang="en-US" sz="7200" dirty="0">
              <a:solidFill>
                <a:schemeClr val="bg1"/>
              </a:solidFill>
              <a:latin typeface="Papyrus" panose="03070502060502030205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8362" y="5167885"/>
            <a:ext cx="77628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smtClean="0">
                <a:solidFill>
                  <a:schemeClr val="bg1"/>
                </a:solidFill>
                <a:latin typeface="Papyrus" panose="03070502060502030205" pitchFamily="66" charset="0"/>
              </a:rPr>
              <a:t>WARN US</a:t>
            </a:r>
            <a:endParaRPr lang="en-US" sz="7200" dirty="0">
              <a:solidFill>
                <a:schemeClr val="bg1"/>
              </a:solidFill>
              <a:latin typeface="Papyrus" panose="0307050206050203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163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ythrough dir="out" hasBounce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183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Papyrus</vt:lpstr>
      <vt:lpstr>Office Theme</vt:lpstr>
      <vt:lpstr>PowerPoint Presentation</vt:lpstr>
      <vt:lpstr>INTRODUCTION</vt:lpstr>
      <vt:lpstr>THE BACKGROUND</vt:lpstr>
      <vt:lpstr>THE PARTS OF THE BOOK</vt:lpstr>
      <vt:lpstr>KEY WARNINGS IN THE BOOK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derek dodd</dc:creator>
  <cp:lastModifiedBy>derek dodd</cp:lastModifiedBy>
  <cp:revision>8</cp:revision>
  <dcterms:created xsi:type="dcterms:W3CDTF">2014-01-23T20:21:54Z</dcterms:created>
  <dcterms:modified xsi:type="dcterms:W3CDTF">2014-01-26T04:37:57Z</dcterms:modified>
</cp:coreProperties>
</file>