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6" r:id="rId3"/>
    <p:sldId id="257" r:id="rId4"/>
    <p:sldId id="262" r:id="rId5"/>
    <p:sldId id="258" r:id="rId6"/>
    <p:sldId id="259" r:id="rId7"/>
    <p:sldId id="260" r:id="rId8"/>
    <p:sldId id="261" r:id="rId9"/>
    <p:sldId id="263" r:id="rId10"/>
    <p:sldId id="264" r:id="rId11"/>
    <p:sldId id="265" r:id="rId12"/>
    <p:sldId id="266" r:id="rId13"/>
    <p:sldId id="267" r:id="rId14"/>
    <p:sldId id="26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4" d="100"/>
          <a:sy n="94" d="100"/>
        </p:scale>
        <p:origin x="2094" y="3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dodd" userId="ec95a1bfe21f4366" providerId="LiveId" clId="{FD2E30FF-65FE-4670-911F-12A2CCF4E4C2}"/>
    <pc:docChg chg="modSld">
      <pc:chgData name="derek dodd" userId="ec95a1bfe21f4366" providerId="LiveId" clId="{FD2E30FF-65FE-4670-911F-12A2CCF4E4C2}" dt="2025-12-27T20:36:18.955" v="0" actId="20577"/>
      <pc:docMkLst>
        <pc:docMk/>
      </pc:docMkLst>
      <pc:sldChg chg="modSp mod">
        <pc:chgData name="derek dodd" userId="ec95a1bfe21f4366" providerId="LiveId" clId="{FD2E30FF-65FE-4670-911F-12A2CCF4E4C2}" dt="2025-12-27T20:36:18.955" v="0" actId="20577"/>
        <pc:sldMkLst>
          <pc:docMk/>
          <pc:sldMk cId="2826492310" sldId="260"/>
        </pc:sldMkLst>
        <pc:spChg chg="mod">
          <ac:chgData name="derek dodd" userId="ec95a1bfe21f4366" providerId="LiveId" clId="{FD2E30FF-65FE-4670-911F-12A2CCF4E4C2}" dt="2025-12-27T20:36:18.955" v="0" actId="20577"/>
          <ac:spMkLst>
            <pc:docMk/>
            <pc:sldMk cId="2826492310" sldId="260"/>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E8454FA-3CAD-4368-847C-5FCD61AB961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1679448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454FA-3CAD-4368-847C-5FCD61AB961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2426199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8454FA-3CAD-4368-847C-5FCD61AB961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2406587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8454FA-3CAD-4368-847C-5FCD61AB961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1539432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8454FA-3CAD-4368-847C-5FCD61AB9612}"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2499232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8454FA-3CAD-4368-847C-5FCD61AB9612}" type="datetimeFigureOut">
              <a:rPr lang="en-US" smtClean="0"/>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3535788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8454FA-3CAD-4368-847C-5FCD61AB9612}" type="datetimeFigureOut">
              <a:rPr lang="en-US" smtClean="0"/>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3335461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8454FA-3CAD-4368-847C-5FCD61AB961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163370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8454FA-3CAD-4368-847C-5FCD61AB961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955997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454FA-3CAD-4368-847C-5FCD61AB961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173689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454FA-3CAD-4368-847C-5FCD61AB961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F74FEE-F4AC-4AD2-A28F-80E53C8BFCD1}" type="slidenum">
              <a:rPr lang="en-US" smtClean="0"/>
              <a:t>‹#›</a:t>
            </a:fld>
            <a:endParaRPr lang="en-US"/>
          </a:p>
        </p:txBody>
      </p:sp>
    </p:spTree>
    <p:extLst>
      <p:ext uri="{BB962C8B-B14F-4D97-AF65-F5344CB8AC3E}">
        <p14:creationId xmlns:p14="http://schemas.microsoft.com/office/powerpoint/2010/main" val="1845070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8454FA-3CAD-4368-847C-5FCD61AB9612}" type="datetimeFigureOut">
              <a:rPr lang="en-US" smtClean="0"/>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F74FEE-F4AC-4AD2-A28F-80E53C8BFCD1}" type="slidenum">
              <a:rPr lang="en-US" smtClean="0"/>
              <a:t>‹#›</a:t>
            </a:fld>
            <a:endParaRPr lang="en-US"/>
          </a:p>
        </p:txBody>
      </p:sp>
    </p:spTree>
    <p:extLst>
      <p:ext uri="{BB962C8B-B14F-4D97-AF65-F5344CB8AC3E}">
        <p14:creationId xmlns:p14="http://schemas.microsoft.com/office/powerpoint/2010/main" val="368718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779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85800"/>
            <a:ext cx="7772400" cy="2971800"/>
          </a:xfrm>
        </p:spPr>
        <p:txBody>
          <a:bodyPr>
            <a:noAutofit/>
          </a:bodyPr>
          <a:lstStyle/>
          <a:p>
            <a:r>
              <a:rPr lang="en-US" sz="7200" dirty="0">
                <a:effectLst>
                  <a:outerShdw blurRad="38100" dist="38100" dir="2700000" algn="tl">
                    <a:srgbClr val="000000">
                      <a:alpha val="43137"/>
                    </a:srgbClr>
                  </a:outerShdw>
                </a:effectLst>
                <a:latin typeface="Papyrus" panose="03070502060502030205" pitchFamily="66" charset="0"/>
              </a:rPr>
              <a:t>THE VOICE OF GOD</a:t>
            </a:r>
          </a:p>
        </p:txBody>
      </p:sp>
      <p:sp>
        <p:nvSpPr>
          <p:cNvPr id="3" name="Subtitle 2"/>
          <p:cNvSpPr>
            <a:spLocks noGrp="1"/>
          </p:cNvSpPr>
          <p:nvPr>
            <p:ph type="subTitle" idx="1"/>
          </p:nvPr>
        </p:nvSpPr>
        <p:spPr>
          <a:xfrm>
            <a:off x="1371600" y="4419600"/>
            <a:ext cx="6400800" cy="990600"/>
          </a:xfrm>
        </p:spPr>
        <p:txBody>
          <a:bodyPr>
            <a:normAutofit/>
          </a:bodyPr>
          <a:lstStyle/>
          <a:p>
            <a:r>
              <a:rPr lang="en-US" sz="4000" dirty="0">
                <a:solidFill>
                  <a:schemeClr val="tx1"/>
                </a:solidFill>
                <a:effectLst>
                  <a:outerShdw blurRad="38100" dist="38100" dir="2700000" algn="tl">
                    <a:srgbClr val="000000">
                      <a:alpha val="43137"/>
                    </a:srgbClr>
                  </a:outerShdw>
                </a:effectLst>
                <a:latin typeface="Papyrus" panose="03070502060502030205" pitchFamily="66" charset="0"/>
              </a:rPr>
              <a:t>Hebrews 1:1-3</a:t>
            </a:r>
          </a:p>
        </p:txBody>
      </p:sp>
    </p:spTree>
    <p:extLst>
      <p:ext uri="{BB962C8B-B14F-4D97-AF65-F5344CB8AC3E}">
        <p14:creationId xmlns:p14="http://schemas.microsoft.com/office/powerpoint/2010/main" val="340664809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Papyrus" panose="03070502060502030205" pitchFamily="66" charset="0"/>
              </a:rPr>
              <a:t>INTRODUCTION</a:t>
            </a:r>
          </a:p>
        </p:txBody>
      </p:sp>
      <p:sp>
        <p:nvSpPr>
          <p:cNvPr id="3" name="Content Placeholder 2"/>
          <p:cNvSpPr>
            <a:spLocks noGrp="1"/>
          </p:cNvSpPr>
          <p:nvPr>
            <p:ph idx="1"/>
          </p:nvPr>
        </p:nvSpPr>
        <p:spPr>
          <a:xfrm>
            <a:off x="457200" y="1600200"/>
            <a:ext cx="8229600" cy="5181600"/>
          </a:xfrm>
        </p:spPr>
        <p:txBody>
          <a:bodyPr>
            <a:noAutofit/>
          </a:bodyPr>
          <a:lstStyle/>
          <a:p>
            <a:r>
              <a:rPr lang="en-US" sz="3600" dirty="0">
                <a:effectLst>
                  <a:outerShdw blurRad="38100" dist="38100" dir="2700000" algn="tl">
                    <a:srgbClr val="000000">
                      <a:alpha val="43137"/>
                    </a:srgbClr>
                  </a:outerShdw>
                </a:effectLst>
                <a:latin typeface="Papyrus" panose="03070502060502030205" pitchFamily="66" charset="0"/>
              </a:rPr>
              <a:t>The writer begins by giving the true author.</a:t>
            </a:r>
          </a:p>
          <a:p>
            <a:r>
              <a:rPr lang="en-US" sz="3600" dirty="0">
                <a:effectLst>
                  <a:outerShdw blurRad="38100" dist="38100" dir="2700000" algn="tl">
                    <a:srgbClr val="000000">
                      <a:alpha val="43137"/>
                    </a:srgbClr>
                  </a:outerShdw>
                </a:effectLst>
                <a:latin typeface="Papyrus" panose="03070502060502030205" pitchFamily="66" charset="0"/>
              </a:rPr>
              <a:t>He encourages weak Jewish Christians to remain with the Apostles teachings.</a:t>
            </a:r>
          </a:p>
          <a:p>
            <a:r>
              <a:rPr lang="en-US" sz="3600" dirty="0">
                <a:effectLst>
                  <a:outerShdw blurRad="38100" dist="38100" dir="2700000" algn="tl">
                    <a:srgbClr val="000000">
                      <a:alpha val="43137"/>
                    </a:srgbClr>
                  </a:outerShdw>
                </a:effectLst>
                <a:latin typeface="Papyrus" panose="03070502060502030205" pitchFamily="66" charset="0"/>
              </a:rPr>
              <a:t>He sets out what the rest of the letter will explain… the contrast between Jesus and what they want to go back to.</a:t>
            </a:r>
          </a:p>
        </p:txBody>
      </p:sp>
    </p:spTree>
    <p:extLst>
      <p:ext uri="{BB962C8B-B14F-4D97-AF65-F5344CB8AC3E}">
        <p14:creationId xmlns:p14="http://schemas.microsoft.com/office/powerpoint/2010/main" val="314613637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1"/>
            <a:ext cx="7772400" cy="3429000"/>
          </a:xfrm>
        </p:spPr>
        <p:txBody>
          <a:bodyPr>
            <a:noAutofit/>
          </a:bodyPr>
          <a:lstStyle/>
          <a:p>
            <a:r>
              <a:rPr lang="en-US" sz="6000" dirty="0">
                <a:effectLst>
                  <a:outerShdw blurRad="38100" dist="38100" dir="2700000" algn="tl">
                    <a:srgbClr val="000000">
                      <a:alpha val="43137"/>
                    </a:srgbClr>
                  </a:outerShdw>
                </a:effectLst>
                <a:latin typeface="Papyrus" panose="03070502060502030205" pitchFamily="66" charset="0"/>
              </a:rPr>
              <a:t>GOD’S VOICE “IN TIMES PAST”</a:t>
            </a:r>
          </a:p>
        </p:txBody>
      </p:sp>
    </p:spTree>
    <p:extLst>
      <p:ext uri="{BB962C8B-B14F-4D97-AF65-F5344CB8AC3E}">
        <p14:creationId xmlns:p14="http://schemas.microsoft.com/office/powerpoint/2010/main" val="423797909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Papyrus" panose="03070502060502030205" pitchFamily="66" charset="0"/>
              </a:rPr>
              <a:t>“IN TIMES PAST”</a:t>
            </a:r>
          </a:p>
        </p:txBody>
      </p:sp>
      <p:sp>
        <p:nvSpPr>
          <p:cNvPr id="3" name="Content Placeholder 2"/>
          <p:cNvSpPr>
            <a:spLocks noGrp="1"/>
          </p:cNvSpPr>
          <p:nvPr>
            <p:ph idx="1"/>
          </p:nvPr>
        </p:nvSpPr>
        <p:spPr>
          <a:xfrm>
            <a:off x="457200" y="1600200"/>
            <a:ext cx="8229600" cy="5105400"/>
          </a:xfrm>
        </p:spPr>
        <p:txBody>
          <a:bodyPr>
            <a:normAutofit/>
          </a:bodyPr>
          <a:lstStyle/>
          <a:p>
            <a:r>
              <a:rPr lang="en-US" sz="3600" dirty="0">
                <a:effectLst>
                  <a:outerShdw blurRad="38100" dist="38100" dir="2700000" algn="tl">
                    <a:srgbClr val="000000">
                      <a:alpha val="43137"/>
                    </a:srgbClr>
                  </a:outerShdw>
                </a:effectLst>
                <a:latin typeface="Papyrus" panose="03070502060502030205" pitchFamily="66" charset="0"/>
              </a:rPr>
              <a:t>“in times past” refers to Then he said to them, "These are my words that I spoke to you while I was still with you, that everything written about me in the </a:t>
            </a:r>
            <a:r>
              <a:rPr lang="en-US" sz="3600" i="1" dirty="0">
                <a:effectLst>
                  <a:outerShdw blurRad="38100" dist="38100" dir="2700000" algn="tl">
                    <a:srgbClr val="000000">
                      <a:alpha val="43137"/>
                    </a:srgbClr>
                  </a:outerShdw>
                </a:effectLst>
                <a:latin typeface="Papyrus" panose="03070502060502030205" pitchFamily="66" charset="0"/>
              </a:rPr>
              <a:t>law of </a:t>
            </a:r>
            <a:r>
              <a:rPr lang="en-US" sz="3600" i="1" dirty="0" err="1">
                <a:effectLst>
                  <a:outerShdw blurRad="38100" dist="38100" dir="2700000" algn="tl">
                    <a:srgbClr val="000000">
                      <a:alpha val="43137"/>
                    </a:srgbClr>
                  </a:outerShdw>
                </a:effectLst>
                <a:latin typeface="Papyrus" panose="03070502060502030205" pitchFamily="66" charset="0"/>
              </a:rPr>
              <a:t>moses</a:t>
            </a:r>
            <a:r>
              <a:rPr lang="en-US" sz="3600" dirty="0">
                <a:effectLst>
                  <a:outerShdw blurRad="38100" dist="38100" dir="2700000" algn="tl">
                    <a:srgbClr val="000000">
                      <a:alpha val="43137"/>
                    </a:srgbClr>
                  </a:outerShdw>
                </a:effectLst>
                <a:latin typeface="Papyrus" panose="03070502060502030205" pitchFamily="66" charset="0"/>
              </a:rPr>
              <a:t> and the </a:t>
            </a:r>
            <a:r>
              <a:rPr lang="en-US" sz="3600" i="1" dirty="0">
                <a:effectLst>
                  <a:outerShdw blurRad="38100" dist="38100" dir="2700000" algn="tl">
                    <a:srgbClr val="000000">
                      <a:alpha val="43137"/>
                    </a:srgbClr>
                  </a:outerShdw>
                </a:effectLst>
                <a:latin typeface="Papyrus" panose="03070502060502030205" pitchFamily="66" charset="0"/>
              </a:rPr>
              <a:t>Prophets</a:t>
            </a:r>
            <a:r>
              <a:rPr lang="en-US" sz="3600" dirty="0">
                <a:effectLst>
                  <a:outerShdw blurRad="38100" dist="38100" dir="2700000" algn="tl">
                    <a:srgbClr val="000000">
                      <a:alpha val="43137"/>
                    </a:srgbClr>
                  </a:outerShdw>
                </a:effectLst>
                <a:latin typeface="Papyrus" panose="03070502060502030205" pitchFamily="66" charset="0"/>
              </a:rPr>
              <a:t> and the </a:t>
            </a:r>
            <a:r>
              <a:rPr lang="en-US" sz="3600" i="1" dirty="0">
                <a:effectLst>
                  <a:outerShdw blurRad="38100" dist="38100" dir="2700000" algn="tl">
                    <a:srgbClr val="000000">
                      <a:alpha val="43137"/>
                    </a:srgbClr>
                  </a:outerShdw>
                </a:effectLst>
                <a:latin typeface="Papyrus" panose="03070502060502030205" pitchFamily="66" charset="0"/>
              </a:rPr>
              <a:t>Psalms</a:t>
            </a:r>
            <a:r>
              <a:rPr lang="en-US" sz="3600" dirty="0">
                <a:effectLst>
                  <a:outerShdw blurRad="38100" dist="38100" dir="2700000" algn="tl">
                    <a:srgbClr val="000000">
                      <a:alpha val="43137"/>
                    </a:srgbClr>
                  </a:outerShdw>
                </a:effectLst>
                <a:latin typeface="Papyrus" panose="03070502060502030205" pitchFamily="66" charset="0"/>
              </a:rPr>
              <a:t> must be fulfilled." </a:t>
            </a:r>
          </a:p>
          <a:p>
            <a:r>
              <a:rPr lang="en-US" sz="3600" dirty="0">
                <a:effectLst>
                  <a:outerShdw blurRad="38100" dist="38100" dir="2700000" algn="tl">
                    <a:srgbClr val="000000">
                      <a:alpha val="43137"/>
                    </a:srgbClr>
                  </a:outerShdw>
                </a:effectLst>
                <a:latin typeface="Papyrus" panose="03070502060502030205" pitchFamily="66" charset="0"/>
              </a:rPr>
              <a:t>Luke 24:44 ESV</a:t>
            </a:r>
          </a:p>
        </p:txBody>
      </p:sp>
    </p:spTree>
    <p:extLst>
      <p:ext uri="{BB962C8B-B14F-4D97-AF65-F5344CB8AC3E}">
        <p14:creationId xmlns:p14="http://schemas.microsoft.com/office/powerpoint/2010/main" val="14549819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Papyrus" panose="03070502060502030205" pitchFamily="66" charset="0"/>
              </a:rPr>
              <a:t>“TO THE FATHERS BY THE PROPHETS”</a:t>
            </a:r>
          </a:p>
        </p:txBody>
      </p:sp>
      <p:sp>
        <p:nvSpPr>
          <p:cNvPr id="3" name="Content Placeholder 2"/>
          <p:cNvSpPr>
            <a:spLocks noGrp="1"/>
          </p:cNvSpPr>
          <p:nvPr>
            <p:ph idx="1"/>
          </p:nvPr>
        </p:nvSpPr>
        <p:spPr>
          <a:xfrm>
            <a:off x="457200" y="1600200"/>
            <a:ext cx="8229600" cy="5029200"/>
          </a:xfrm>
        </p:spPr>
        <p:txBody>
          <a:bodyPr/>
          <a:lstStyle/>
          <a:p>
            <a:pPr lvl="1"/>
            <a:r>
              <a:rPr lang="en-US" sz="3200" dirty="0">
                <a:effectLst>
                  <a:outerShdw blurRad="38100" dist="38100" dir="2700000" algn="tl">
                    <a:srgbClr val="000000">
                      <a:alpha val="43137"/>
                    </a:srgbClr>
                  </a:outerShdw>
                </a:effectLst>
                <a:latin typeface="Papyrus" panose="03070502060502030205" pitchFamily="66" charset="0"/>
              </a:rPr>
              <a:t>The Fathers – the ancestors and leaders of the Israelites.</a:t>
            </a:r>
          </a:p>
          <a:p>
            <a:pPr lvl="1"/>
            <a:r>
              <a:rPr lang="en-US" sz="3200" dirty="0">
                <a:effectLst>
                  <a:outerShdw blurRad="38100" dist="38100" dir="2700000" algn="tl">
                    <a:srgbClr val="000000">
                      <a:alpha val="43137"/>
                    </a:srgbClr>
                  </a:outerShdw>
                </a:effectLst>
                <a:latin typeface="Papyrus" panose="03070502060502030205" pitchFamily="66" charset="0"/>
              </a:rPr>
              <a:t>The Prophets – men like Samuel, Elijah, Isaiah, and Daniel</a:t>
            </a:r>
          </a:p>
          <a:p>
            <a:pPr lvl="1"/>
            <a:r>
              <a:rPr lang="en-US" sz="3200" dirty="0">
                <a:effectLst>
                  <a:outerShdw blurRad="38100" dist="38100" dir="2700000" algn="tl">
                    <a:srgbClr val="000000">
                      <a:alpha val="43137"/>
                    </a:srgbClr>
                  </a:outerShdw>
                </a:effectLst>
                <a:latin typeface="Papyrus" panose="03070502060502030205" pitchFamily="66" charset="0"/>
              </a:rPr>
              <a:t>For the prophecy came not in old time by the will of man: but holy men of God </a:t>
            </a:r>
            <a:r>
              <a:rPr lang="en-US" sz="3200" dirty="0" err="1">
                <a:effectLst>
                  <a:outerShdw blurRad="38100" dist="38100" dir="2700000" algn="tl">
                    <a:srgbClr val="000000">
                      <a:alpha val="43137"/>
                    </a:srgbClr>
                  </a:outerShdw>
                </a:effectLst>
                <a:latin typeface="Papyrus" panose="03070502060502030205" pitchFamily="66" charset="0"/>
              </a:rPr>
              <a:t>spake</a:t>
            </a:r>
            <a:r>
              <a:rPr lang="en-US" sz="3200" dirty="0">
                <a:effectLst>
                  <a:outerShdw blurRad="38100" dist="38100" dir="2700000" algn="tl">
                    <a:srgbClr val="000000">
                      <a:alpha val="43137"/>
                    </a:srgbClr>
                  </a:outerShdw>
                </a:effectLst>
                <a:latin typeface="Papyrus" panose="03070502060502030205" pitchFamily="66" charset="0"/>
              </a:rPr>
              <a:t> as they were moved by the Holy Ghost. </a:t>
            </a:r>
          </a:p>
          <a:p>
            <a:pPr lvl="1"/>
            <a:r>
              <a:rPr lang="en-US" sz="3200" dirty="0">
                <a:effectLst>
                  <a:outerShdw blurRad="38100" dist="38100" dir="2700000" algn="tl">
                    <a:srgbClr val="000000">
                      <a:alpha val="43137"/>
                    </a:srgbClr>
                  </a:outerShdw>
                </a:effectLst>
                <a:latin typeface="Papyrus" panose="03070502060502030205" pitchFamily="66" charset="0"/>
              </a:rPr>
              <a:t>2Pe 1:21 KJV</a:t>
            </a:r>
          </a:p>
          <a:p>
            <a:pPr lvl="1"/>
            <a:endParaRPr lang="en-US" dirty="0">
              <a:latin typeface="Papyrus" panose="03070502060502030205" pitchFamily="66" charset="0"/>
            </a:endParaRPr>
          </a:p>
        </p:txBody>
      </p:sp>
    </p:spTree>
    <p:extLst>
      <p:ext uri="{BB962C8B-B14F-4D97-AF65-F5344CB8AC3E}">
        <p14:creationId xmlns:p14="http://schemas.microsoft.com/office/powerpoint/2010/main" val="34246259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Papyrus" panose="03070502060502030205" pitchFamily="66" charset="0"/>
              </a:rPr>
              <a:t>AT VARIOUS TIMES AND </a:t>
            </a:r>
            <a:r>
              <a:rPr lang="en-US">
                <a:latin typeface="Papyrus" panose="03070502060502030205" pitchFamily="66" charset="0"/>
              </a:rPr>
              <a:t>DIFFERENT WAYS</a:t>
            </a:r>
            <a:endParaRPr lang="en-US" dirty="0">
              <a:latin typeface="Papyrus" panose="03070502060502030205" pitchFamily="66" charset="0"/>
            </a:endParaRPr>
          </a:p>
        </p:txBody>
      </p:sp>
      <p:sp>
        <p:nvSpPr>
          <p:cNvPr id="3" name="Content Placeholder 2"/>
          <p:cNvSpPr>
            <a:spLocks noGrp="1"/>
          </p:cNvSpPr>
          <p:nvPr>
            <p:ph idx="1"/>
          </p:nvPr>
        </p:nvSpPr>
        <p:spPr/>
        <p:txBody>
          <a:bodyPr>
            <a:normAutofit/>
          </a:bodyPr>
          <a:lstStyle/>
          <a:p>
            <a:r>
              <a:rPr lang="en-US" sz="4000" dirty="0">
                <a:effectLst>
                  <a:outerShdw blurRad="38100" dist="38100" dir="2700000" algn="tl">
                    <a:srgbClr val="000000">
                      <a:alpha val="43137"/>
                    </a:srgbClr>
                  </a:outerShdw>
                </a:effectLst>
                <a:latin typeface="Papyrus" panose="03070502060502030205" pitchFamily="66" charset="0"/>
              </a:rPr>
              <a:t>God sent His Word </a:t>
            </a:r>
          </a:p>
          <a:p>
            <a:pPr lvl="1"/>
            <a:r>
              <a:rPr lang="en-US" sz="3600" dirty="0">
                <a:effectLst>
                  <a:outerShdw blurRad="38100" dist="38100" dir="2700000" algn="tl">
                    <a:srgbClr val="000000">
                      <a:alpha val="43137"/>
                    </a:srgbClr>
                  </a:outerShdw>
                </a:effectLst>
                <a:latin typeface="Papyrus" panose="03070502060502030205" pitchFamily="66" charset="0"/>
              </a:rPr>
              <a:t>Over a period of 1600 years</a:t>
            </a:r>
          </a:p>
          <a:p>
            <a:pPr lvl="1"/>
            <a:r>
              <a:rPr lang="en-US" sz="3600" dirty="0">
                <a:effectLst>
                  <a:outerShdw blurRad="38100" dist="38100" dir="2700000" algn="tl">
                    <a:srgbClr val="000000">
                      <a:alpha val="43137"/>
                    </a:srgbClr>
                  </a:outerShdw>
                </a:effectLst>
                <a:latin typeface="Papyrus" panose="03070502060502030205" pitchFamily="66" charset="0"/>
              </a:rPr>
              <a:t>By 44 different writers</a:t>
            </a:r>
          </a:p>
          <a:p>
            <a:pPr lvl="1"/>
            <a:r>
              <a:rPr lang="en-US" sz="3600" dirty="0">
                <a:effectLst>
                  <a:outerShdw blurRad="38100" dist="38100" dir="2700000" algn="tl">
                    <a:srgbClr val="000000">
                      <a:alpha val="43137"/>
                    </a:srgbClr>
                  </a:outerShdw>
                </a:effectLst>
                <a:latin typeface="Papyrus" panose="03070502060502030205" pitchFamily="66" charset="0"/>
              </a:rPr>
              <a:t>Sometimes the method varied</a:t>
            </a:r>
          </a:p>
          <a:p>
            <a:pPr lvl="2"/>
            <a:r>
              <a:rPr lang="en-US" sz="3200" dirty="0">
                <a:effectLst>
                  <a:outerShdw blurRad="38100" dist="38100" dir="2700000" algn="tl">
                    <a:srgbClr val="000000">
                      <a:alpha val="43137"/>
                    </a:srgbClr>
                  </a:outerShdw>
                </a:effectLst>
                <a:latin typeface="Papyrus" panose="03070502060502030205" pitchFamily="66" charset="0"/>
              </a:rPr>
              <a:t>Visions</a:t>
            </a:r>
          </a:p>
          <a:p>
            <a:pPr lvl="2"/>
            <a:r>
              <a:rPr lang="en-US" sz="3200" dirty="0">
                <a:effectLst>
                  <a:outerShdw blurRad="38100" dist="38100" dir="2700000" algn="tl">
                    <a:srgbClr val="000000">
                      <a:alpha val="43137"/>
                    </a:srgbClr>
                  </a:outerShdw>
                </a:effectLst>
                <a:latin typeface="Papyrus" panose="03070502060502030205" pitchFamily="66" charset="0"/>
              </a:rPr>
              <a:t>Dreams</a:t>
            </a:r>
          </a:p>
          <a:p>
            <a:pPr lvl="2"/>
            <a:r>
              <a:rPr lang="en-US" sz="3200" dirty="0">
                <a:effectLst>
                  <a:outerShdw blurRad="38100" dist="38100" dir="2700000" algn="tl">
                    <a:srgbClr val="000000">
                      <a:alpha val="43137"/>
                    </a:srgbClr>
                  </a:outerShdw>
                </a:effectLst>
                <a:latin typeface="Papyrus" panose="03070502060502030205" pitchFamily="66" charset="0"/>
              </a:rPr>
              <a:t>Providence in lives.</a:t>
            </a:r>
          </a:p>
        </p:txBody>
      </p:sp>
    </p:spTree>
    <p:extLst>
      <p:ext uri="{BB962C8B-B14F-4D97-AF65-F5344CB8AC3E}">
        <p14:creationId xmlns:p14="http://schemas.microsoft.com/office/powerpoint/2010/main" val="282649231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3276600"/>
          </a:xfrm>
        </p:spPr>
        <p:txBody>
          <a:bodyPr>
            <a:noAutofit/>
          </a:bodyPr>
          <a:lstStyle/>
          <a:p>
            <a:r>
              <a:rPr lang="en-US" sz="6000" dirty="0">
                <a:effectLst>
                  <a:outerShdw blurRad="38100" dist="38100" dir="2700000" algn="tl">
                    <a:srgbClr val="000000">
                      <a:alpha val="43137"/>
                    </a:srgbClr>
                  </a:outerShdw>
                </a:effectLst>
                <a:latin typeface="Papyrus" panose="03070502060502030205" pitchFamily="66" charset="0"/>
              </a:rPr>
              <a:t>GOD’S VOICE “IN THESE LAST DAYS”</a:t>
            </a:r>
          </a:p>
        </p:txBody>
      </p:sp>
    </p:spTree>
    <p:extLst>
      <p:ext uri="{BB962C8B-B14F-4D97-AF65-F5344CB8AC3E}">
        <p14:creationId xmlns:p14="http://schemas.microsoft.com/office/powerpoint/2010/main" val="407975622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latin typeface="Papyrus" panose="03070502060502030205" pitchFamily="66" charset="0"/>
              </a:rPr>
              <a:t>IN THESE LAST DAYS</a:t>
            </a:r>
          </a:p>
        </p:txBody>
      </p:sp>
      <p:sp>
        <p:nvSpPr>
          <p:cNvPr id="3" name="Content Placeholder 2"/>
          <p:cNvSpPr>
            <a:spLocks noGrp="1"/>
          </p:cNvSpPr>
          <p:nvPr>
            <p:ph idx="1"/>
          </p:nvPr>
        </p:nvSpPr>
        <p:spPr>
          <a:xfrm>
            <a:off x="457200" y="1600200"/>
            <a:ext cx="8229600" cy="5029200"/>
          </a:xfrm>
        </p:spPr>
        <p:txBody>
          <a:bodyPr>
            <a:normAutofit/>
          </a:bodyPr>
          <a:lstStyle/>
          <a:p>
            <a:r>
              <a:rPr lang="en-US" sz="3600" dirty="0">
                <a:effectLst>
                  <a:outerShdw blurRad="38100" dist="38100" dir="2700000" algn="tl">
                    <a:srgbClr val="000000">
                      <a:alpha val="43137"/>
                    </a:srgbClr>
                  </a:outerShdw>
                </a:effectLst>
                <a:latin typeface="Papyrus" panose="03070502060502030205" pitchFamily="66" charset="0"/>
              </a:rPr>
              <a:t>The end of the period of Judaism </a:t>
            </a:r>
          </a:p>
          <a:p>
            <a:r>
              <a:rPr lang="en-US" sz="3600" dirty="0">
                <a:effectLst>
                  <a:outerShdw blurRad="38100" dist="38100" dir="2700000" algn="tl">
                    <a:srgbClr val="000000">
                      <a:alpha val="43137"/>
                    </a:srgbClr>
                  </a:outerShdw>
                </a:effectLst>
                <a:latin typeface="Papyrus" panose="03070502060502030205" pitchFamily="66" charset="0"/>
              </a:rPr>
              <a:t>The period the of Messiah</a:t>
            </a:r>
          </a:p>
          <a:p>
            <a:r>
              <a:rPr lang="en-US" sz="3600" dirty="0">
                <a:effectLst>
                  <a:outerShdw blurRad="38100" dist="38100" dir="2700000" algn="tl">
                    <a:srgbClr val="000000">
                      <a:alpha val="43137"/>
                    </a:srgbClr>
                  </a:outerShdw>
                </a:effectLst>
                <a:latin typeface="Papyrus" panose="03070502060502030205" pitchFamily="66" charset="0"/>
              </a:rPr>
              <a:t>Isaiah and Micah say</a:t>
            </a:r>
          </a:p>
          <a:p>
            <a:pPr lvl="1"/>
            <a:r>
              <a:rPr lang="en-US" sz="3200" dirty="0">
                <a:effectLst>
                  <a:outerShdw blurRad="38100" dist="38100" dir="2700000" algn="tl">
                    <a:srgbClr val="000000">
                      <a:alpha val="43137"/>
                    </a:srgbClr>
                  </a:outerShdw>
                </a:effectLst>
                <a:latin typeface="Papyrus" panose="03070502060502030205" pitchFamily="66" charset="0"/>
              </a:rPr>
              <a:t>And it shall come to pass in the last days, that the mountain of the Lord's house shall be established in the top of the mountains, and shall be exalted above the hills; and all nations shall flow unto it. </a:t>
            </a:r>
          </a:p>
        </p:txBody>
      </p:sp>
    </p:spTree>
    <p:extLst>
      <p:ext uri="{BB962C8B-B14F-4D97-AF65-F5344CB8AC3E}">
        <p14:creationId xmlns:p14="http://schemas.microsoft.com/office/powerpoint/2010/main" val="381653184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latin typeface="Papyrus" panose="03070502060502030205" pitchFamily="66" charset="0"/>
              </a:rPr>
              <a:t>“HAS SPOKEN TO US BY HIS SON”</a:t>
            </a:r>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r>
              <a:rPr lang="en-US" sz="3600" dirty="0">
                <a:effectLst>
                  <a:outerShdw blurRad="38100" dist="38100" dir="2700000" algn="tl">
                    <a:srgbClr val="000000">
                      <a:alpha val="43137"/>
                    </a:srgbClr>
                  </a:outerShdw>
                </a:effectLst>
                <a:latin typeface="Papyrus" panose="03070502060502030205" pitchFamily="66" charset="0"/>
              </a:rPr>
              <a:t>Here begins the comparison of Old and New, of Prophets and Christ.</a:t>
            </a:r>
          </a:p>
          <a:p>
            <a:r>
              <a:rPr lang="en-US" sz="3600" dirty="0">
                <a:effectLst>
                  <a:outerShdw blurRad="38100" dist="38100" dir="2700000" algn="tl">
                    <a:srgbClr val="000000">
                      <a:alpha val="43137"/>
                    </a:srgbClr>
                  </a:outerShdw>
                </a:effectLst>
                <a:latin typeface="Papyrus" panose="03070502060502030205" pitchFamily="66" charset="0"/>
              </a:rPr>
              <a:t>Christ gave the parable of wicked workers.</a:t>
            </a:r>
          </a:p>
          <a:p>
            <a:pPr lvl="1"/>
            <a:r>
              <a:rPr lang="en-US" sz="3200" dirty="0">
                <a:effectLst>
                  <a:outerShdw blurRad="38100" dist="38100" dir="2700000" algn="tl">
                    <a:srgbClr val="000000">
                      <a:alpha val="43137"/>
                    </a:srgbClr>
                  </a:outerShdw>
                </a:effectLst>
                <a:latin typeface="Papyrus" panose="03070502060502030205" pitchFamily="66" charset="0"/>
              </a:rPr>
              <a:t>Finally he sent his son to them, saying, 'They will respect my son.' But when the tenants saw the son, they said to themselves, 'This is the heir. Come, let us kill him and have his inheritance.' And they took him and threw him out of the vineyard and killed him. </a:t>
            </a:r>
          </a:p>
          <a:p>
            <a:pPr lvl="1"/>
            <a:r>
              <a:rPr lang="en-US" sz="3200" dirty="0">
                <a:effectLst>
                  <a:outerShdw blurRad="38100" dist="38100" dir="2700000" algn="tl">
                    <a:srgbClr val="000000">
                      <a:alpha val="43137"/>
                    </a:srgbClr>
                  </a:outerShdw>
                </a:effectLst>
                <a:latin typeface="Papyrus" panose="03070502060502030205" pitchFamily="66" charset="0"/>
              </a:rPr>
              <a:t>Mat 21:37-39 ESV</a:t>
            </a:r>
          </a:p>
          <a:p>
            <a:pPr lvl="1"/>
            <a:endParaRPr lang="en-US" dirty="0">
              <a:effectLst>
                <a:outerShdw blurRad="38100" dist="38100" dir="2700000" algn="tl">
                  <a:srgbClr val="000000">
                    <a:alpha val="43137"/>
                  </a:srgbClr>
                </a:outerShdw>
              </a:effectLst>
              <a:latin typeface="Papyrus" panose="03070502060502030205" pitchFamily="66" charset="0"/>
            </a:endParaRPr>
          </a:p>
        </p:txBody>
      </p:sp>
    </p:spTree>
    <p:extLst>
      <p:ext uri="{BB962C8B-B14F-4D97-AF65-F5344CB8AC3E}">
        <p14:creationId xmlns:p14="http://schemas.microsoft.com/office/powerpoint/2010/main" val="100897037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600201"/>
            <a:ext cx="7772400" cy="3200400"/>
          </a:xfrm>
        </p:spPr>
        <p:txBody>
          <a:bodyPr>
            <a:noAutofit/>
          </a:bodyPr>
          <a:lstStyle/>
          <a:p>
            <a:r>
              <a:rPr lang="en-US" sz="6000" dirty="0">
                <a:effectLst>
                  <a:outerShdw blurRad="38100" dist="38100" dir="2700000" algn="tl">
                    <a:srgbClr val="000000">
                      <a:alpha val="43137"/>
                    </a:srgbClr>
                  </a:outerShdw>
                </a:effectLst>
                <a:latin typeface="Papyrus" panose="03070502060502030205" pitchFamily="66" charset="0"/>
              </a:rPr>
              <a:t>GOD’S VOICE IS POWER</a:t>
            </a:r>
          </a:p>
        </p:txBody>
      </p:sp>
    </p:spTree>
    <p:extLst>
      <p:ext uri="{BB962C8B-B14F-4D97-AF65-F5344CB8AC3E}">
        <p14:creationId xmlns:p14="http://schemas.microsoft.com/office/powerpoint/2010/main" val="140275324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Papyrus" panose="03070502060502030205" pitchFamily="66" charset="0"/>
              </a:rPr>
              <a:t>CHRIST THE HUMAN IMAGE</a:t>
            </a:r>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dirty="0">
                <a:effectLst>
                  <a:outerShdw blurRad="38100" dist="38100" dir="2700000" algn="tl">
                    <a:srgbClr val="000000">
                      <a:alpha val="43137"/>
                    </a:srgbClr>
                  </a:outerShdw>
                </a:effectLst>
                <a:latin typeface="Papyrus" panose="03070502060502030205" pitchFamily="66" charset="0"/>
              </a:rPr>
              <a:t>In the beginning was the Word, and the Word was with God, and the Word was God. He was in the beginning with God. All things were made through him, and without him was not any thing made that was made. John 1:1-3 ESV</a:t>
            </a:r>
          </a:p>
          <a:p>
            <a:r>
              <a:rPr lang="en-US" dirty="0">
                <a:effectLst>
                  <a:outerShdw blurRad="38100" dist="38100" dir="2700000" algn="tl">
                    <a:srgbClr val="000000">
                      <a:alpha val="43137"/>
                    </a:srgbClr>
                  </a:outerShdw>
                </a:effectLst>
                <a:latin typeface="Papyrus" panose="03070502060502030205" pitchFamily="66" charset="0"/>
              </a:rPr>
              <a:t>And the Word became flesh and dwelt among us, and we have seen his glory, glory as of the only Son from the Father, full of grace and truth.  John 1:14 ESV</a:t>
            </a:r>
          </a:p>
          <a:p>
            <a:endParaRPr lang="en-US" dirty="0">
              <a:latin typeface="Papyrus" panose="03070502060502030205" pitchFamily="66" charset="0"/>
            </a:endParaRPr>
          </a:p>
          <a:p>
            <a:endParaRPr lang="en-US" dirty="0">
              <a:latin typeface="Papyrus" panose="03070502060502030205" pitchFamily="66" charset="0"/>
            </a:endParaRPr>
          </a:p>
        </p:txBody>
      </p:sp>
    </p:spTree>
    <p:extLst>
      <p:ext uri="{BB962C8B-B14F-4D97-AF65-F5344CB8AC3E}">
        <p14:creationId xmlns:p14="http://schemas.microsoft.com/office/powerpoint/2010/main" val="18972404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Papyrus" panose="03070502060502030205" pitchFamily="66" charset="0"/>
              </a:rPr>
              <a:t>CHRIST THE IMAGE</a:t>
            </a:r>
          </a:p>
        </p:txBody>
      </p:sp>
      <p:sp>
        <p:nvSpPr>
          <p:cNvPr id="3" name="Content Placeholder 2"/>
          <p:cNvSpPr>
            <a:spLocks noGrp="1"/>
          </p:cNvSpPr>
          <p:nvPr>
            <p:ph idx="1"/>
          </p:nvPr>
        </p:nvSpPr>
        <p:spPr>
          <a:xfrm>
            <a:off x="457200" y="1600200"/>
            <a:ext cx="8229600" cy="5181600"/>
          </a:xfrm>
        </p:spPr>
        <p:txBody>
          <a:bodyPr>
            <a:normAutofit fontScale="92500" lnSpcReduction="10000"/>
          </a:bodyPr>
          <a:lstStyle/>
          <a:p>
            <a:r>
              <a:rPr lang="en-US" dirty="0">
                <a:effectLst>
                  <a:outerShdw blurRad="38100" dist="38100" dir="2700000" algn="tl">
                    <a:srgbClr val="000000">
                      <a:alpha val="43137"/>
                    </a:srgbClr>
                  </a:outerShdw>
                </a:effectLst>
                <a:latin typeface="Papyrus" panose="03070502060502030205" pitchFamily="66" charset="0"/>
              </a:rPr>
              <a:t>For in him the whole fullness of deity dwells bodily,  Col 2:9 ESV</a:t>
            </a:r>
          </a:p>
          <a:p>
            <a:r>
              <a:rPr lang="en-US" dirty="0">
                <a:effectLst>
                  <a:outerShdw blurRad="38100" dist="38100" dir="2700000" algn="tl">
                    <a:srgbClr val="000000">
                      <a:alpha val="43137"/>
                    </a:srgbClr>
                  </a:outerShdw>
                </a:effectLst>
                <a:latin typeface="Papyrus" panose="03070502060502030205" pitchFamily="66" charset="0"/>
              </a:rPr>
              <a:t>Jesus said to him, "Have I been with you so long, and you still do not know me, Philip? Whoever has seen me has seen the Father. How can you say, 'Show us the Father'? Do you not believe that I am in the Father and the Father is in me? The words that I say to you I do not speak on my own authority, but the Father who dwells in me does his works. John 14:9-10 ESV</a:t>
            </a:r>
          </a:p>
        </p:txBody>
      </p:sp>
    </p:spTree>
    <p:extLst>
      <p:ext uri="{BB962C8B-B14F-4D97-AF65-F5344CB8AC3E}">
        <p14:creationId xmlns:p14="http://schemas.microsoft.com/office/powerpoint/2010/main" val="326758722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Papyrus" panose="03070502060502030205" pitchFamily="66" charset="0"/>
              </a:rPr>
              <a:t>CLOSING</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5050" y="304800"/>
            <a:ext cx="5111750" cy="4807452"/>
          </a:xfrm>
        </p:spPr>
      </p:pic>
      <p:sp>
        <p:nvSpPr>
          <p:cNvPr id="4" name="Text Placeholder 3"/>
          <p:cNvSpPr>
            <a:spLocks noGrp="1"/>
          </p:cNvSpPr>
          <p:nvPr>
            <p:ph type="body" sz="half" idx="2"/>
          </p:nvPr>
        </p:nvSpPr>
        <p:spPr/>
        <p:txBody>
          <a:bodyPr>
            <a:noAutofit/>
          </a:bodyPr>
          <a:lstStyle/>
          <a:p>
            <a:r>
              <a:rPr lang="en-US" sz="2400" b="1" dirty="0">
                <a:effectLst>
                  <a:outerShdw blurRad="38100" dist="38100" dir="2700000" algn="tl">
                    <a:srgbClr val="000000">
                      <a:alpha val="43137"/>
                    </a:srgbClr>
                  </a:outerShdw>
                </a:effectLst>
                <a:latin typeface="Papyrus" panose="03070502060502030205" pitchFamily="66" charset="0"/>
              </a:rPr>
              <a:t>HEAR the word of God and BELIEVE that Jesus is the Messiah. CONFESS that you will follow and serve Him as your Lord. REPENT of the life of sin that He has set you free from and be BAPTIZED into Christ entering His Kingdom.</a:t>
            </a:r>
          </a:p>
        </p:txBody>
      </p:sp>
    </p:spTree>
    <p:extLst>
      <p:ext uri="{BB962C8B-B14F-4D97-AF65-F5344CB8AC3E}">
        <p14:creationId xmlns:p14="http://schemas.microsoft.com/office/powerpoint/2010/main" val="414786271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627</Words>
  <Application>Microsoft Office PowerPoint</Application>
  <PresentationFormat>On-screen Show (4:3)</PresentationFormat>
  <Paragraphs>43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Papyrus</vt:lpstr>
      <vt:lpstr>Office Theme</vt:lpstr>
      <vt:lpstr>PowerPoint Presentation</vt:lpstr>
      <vt:lpstr>THE VOICE OF GOD</vt:lpstr>
      <vt:lpstr>INTRODUCTION</vt:lpstr>
      <vt:lpstr>GOD’S VOICE “IN TIMES PAST”</vt:lpstr>
      <vt:lpstr>“IN TIMES PAST”</vt:lpstr>
      <vt:lpstr>“TO THE FATHERS BY THE PROPHETS”</vt:lpstr>
      <vt:lpstr>AT VARIOUS TIMES AND DIFFERENT WAYS</vt:lpstr>
      <vt:lpstr>GOD’S VOICE “IN THESE LAST DAYS”</vt:lpstr>
      <vt:lpstr>IN THESE LAST DAYS</vt:lpstr>
      <vt:lpstr>“HAS SPOKEN TO US BY HIS SON”</vt:lpstr>
      <vt:lpstr>GOD’S VOICE IS POWER</vt:lpstr>
      <vt:lpstr>CHRIST THE HUMAN IMAGE</vt:lpstr>
      <vt:lpstr>CHRIST THE IMAGE</vt:lpstr>
      <vt:lpstr>CLOSING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VIOITHERG</dc:title>
  <dc:creator>DEREK</dc:creator>
  <cp:lastModifiedBy>derek dodd</cp:lastModifiedBy>
  <cp:revision>11</cp:revision>
  <dcterms:created xsi:type="dcterms:W3CDTF">2014-01-29T15:20:51Z</dcterms:created>
  <dcterms:modified xsi:type="dcterms:W3CDTF">2025-12-27T20:36:21Z</dcterms:modified>
</cp:coreProperties>
</file>