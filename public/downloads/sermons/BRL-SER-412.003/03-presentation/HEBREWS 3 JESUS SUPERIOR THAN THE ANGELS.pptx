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134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281014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252082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184456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1066824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40577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3013910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272372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350248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598959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1602682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8E9286-55E2-45F7-B8ED-12069ED8D358}" type="datetimeFigureOut">
              <a:rPr lang="en-US" smtClean="0"/>
              <a:t>2/8/2014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242A829-183D-42D4-BBFE-24CC134B2A5B}" type="slidenum">
              <a:rPr lang="en-US" smtClean="0"/>
              <a:t>‹#›</a:t>
            </a:fld>
            <a:endParaRPr lang="en-US" dirty="0"/>
          </a:p>
        </p:txBody>
      </p:sp>
    </p:spTree>
    <p:extLst>
      <p:ext uri="{BB962C8B-B14F-4D97-AF65-F5344CB8AC3E}">
        <p14:creationId xmlns:p14="http://schemas.microsoft.com/office/powerpoint/2010/main" val="3211342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8E9286-55E2-45F7-B8ED-12069ED8D358}" type="datetimeFigureOut">
              <a:rPr lang="en-US" smtClean="0"/>
              <a:t>2/8/2014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42A829-183D-42D4-BBFE-24CC134B2A5B}" type="slidenum">
              <a:rPr lang="en-US" smtClean="0"/>
              <a:t>‹#›</a:t>
            </a:fld>
            <a:endParaRPr lang="en-US" dirty="0"/>
          </a:p>
        </p:txBody>
      </p:sp>
    </p:spTree>
    <p:extLst>
      <p:ext uri="{BB962C8B-B14F-4D97-AF65-F5344CB8AC3E}">
        <p14:creationId xmlns:p14="http://schemas.microsoft.com/office/powerpoint/2010/main" val="2863215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4728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6200" y="1219201"/>
            <a:ext cx="8991600" cy="2381250"/>
          </a:xfrm>
        </p:spPr>
        <p:txBody>
          <a:bodyPr>
            <a:normAutofit/>
          </a:bodyPr>
          <a:lstStyle/>
          <a:p>
            <a:r>
              <a:rPr lang="en-US" sz="5400" dirty="0" smtClean="0">
                <a:latin typeface="Plantagenet Cherokee" panose="02020602070100000000" pitchFamily="18" charset="0"/>
              </a:rPr>
              <a:t>JESUS SUPERIOR TO THE ANGELS</a:t>
            </a:r>
            <a:endParaRPr lang="en-US" sz="5400" dirty="0">
              <a:latin typeface="Plantagenet Cherokee" panose="02020602070100000000" pitchFamily="18" charset="0"/>
            </a:endParaRPr>
          </a:p>
        </p:txBody>
      </p:sp>
      <p:sp>
        <p:nvSpPr>
          <p:cNvPr id="5" name="Subtitle 4"/>
          <p:cNvSpPr>
            <a:spLocks noGrp="1"/>
          </p:cNvSpPr>
          <p:nvPr>
            <p:ph type="subTitle" idx="1"/>
          </p:nvPr>
        </p:nvSpPr>
        <p:spPr>
          <a:xfrm>
            <a:off x="1371600" y="4343400"/>
            <a:ext cx="6400800" cy="990600"/>
          </a:xfrm>
        </p:spPr>
        <p:txBody>
          <a:bodyPr>
            <a:normAutofit/>
          </a:bodyPr>
          <a:lstStyle/>
          <a:p>
            <a:r>
              <a:rPr lang="en-US" sz="4000" dirty="0" smtClean="0">
                <a:solidFill>
                  <a:schemeClr val="tx1"/>
                </a:solidFill>
                <a:latin typeface="Plantagenet Cherokee" panose="02020602070100000000" pitchFamily="18" charset="0"/>
              </a:rPr>
              <a:t>HEBREWS 1:4-14</a:t>
            </a:r>
            <a:endParaRPr lang="en-US" sz="4000" dirty="0">
              <a:solidFill>
                <a:schemeClr val="tx1"/>
              </a:solidFill>
              <a:latin typeface="Plantagenet Cherokee" panose="02020602070100000000" pitchFamily="18" charset="0"/>
            </a:endParaRPr>
          </a:p>
        </p:txBody>
      </p:sp>
    </p:spTree>
    <p:extLst>
      <p:ext uri="{BB962C8B-B14F-4D97-AF65-F5344CB8AC3E}">
        <p14:creationId xmlns:p14="http://schemas.microsoft.com/office/powerpoint/2010/main" val="38977726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latin typeface="Plantagenet Cherokee" panose="02020602070100000000" pitchFamily="18" charset="0"/>
              </a:rPr>
              <a:t>INTRODUCTION</a:t>
            </a:r>
            <a:endParaRPr lang="en-US" sz="4800" dirty="0">
              <a:latin typeface="Plantagenet Cherokee" panose="02020602070100000000" pitchFamily="18" charset="0"/>
            </a:endParaRP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r>
              <a:rPr lang="en-US" sz="4000" b="1" dirty="0" smtClean="0">
                <a:effectLst>
                  <a:outerShdw blurRad="38100" dist="38100" dir="2700000" algn="tl">
                    <a:srgbClr val="000000">
                      <a:alpha val="43137"/>
                    </a:srgbClr>
                  </a:outerShdw>
                </a:effectLst>
                <a:latin typeface="Plantagenet Cherokee" panose="02020602070100000000" pitchFamily="18" charset="0"/>
              </a:rPr>
              <a:t>Angel’s helped bring the O.L.</a:t>
            </a:r>
          </a:p>
          <a:p>
            <a:pPr lvl="1"/>
            <a:r>
              <a:rPr lang="en-US" sz="3600" b="1" dirty="0" smtClean="0">
                <a:effectLst>
                  <a:outerShdw blurRad="38100" dist="38100" dir="2700000" algn="tl">
                    <a:srgbClr val="000000">
                      <a:alpha val="43137"/>
                    </a:srgbClr>
                  </a:outerShdw>
                </a:effectLst>
                <a:latin typeface="Plantagenet Cherokee" panose="02020602070100000000" pitchFamily="18" charset="0"/>
              </a:rPr>
              <a:t>Acts 7:53 “you who received the law as delivered by angels and did not keep it.”</a:t>
            </a:r>
          </a:p>
          <a:p>
            <a:pPr lvl="1"/>
            <a:r>
              <a:rPr lang="en-US" sz="3600" b="1" dirty="0" smtClean="0">
                <a:effectLst>
                  <a:outerShdw blurRad="38100" dist="38100" dir="2700000" algn="tl">
                    <a:srgbClr val="000000">
                      <a:alpha val="43137"/>
                    </a:srgbClr>
                  </a:outerShdw>
                </a:effectLst>
                <a:latin typeface="Plantagenet Cherokee" panose="02020602070100000000" pitchFamily="18" charset="0"/>
              </a:rPr>
              <a:t>Gal. 3:19 “why then the law? It was added because of transgression, until the offspring should come to whom the promise had been made, and it was put in place through angels by an intermediary.”</a:t>
            </a:r>
          </a:p>
          <a:p>
            <a:endParaRPr lang="en-US" sz="4000" dirty="0">
              <a:latin typeface="Plantagenet Cherokee" panose="02020602070100000000" pitchFamily="18" charset="0"/>
            </a:endParaRPr>
          </a:p>
        </p:txBody>
      </p:sp>
    </p:spTree>
    <p:extLst>
      <p:ext uri="{BB962C8B-B14F-4D97-AF65-F5344CB8AC3E}">
        <p14:creationId xmlns:p14="http://schemas.microsoft.com/office/powerpoint/2010/main" val="200012064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INTRODUCTION</a:t>
            </a:r>
            <a:endParaRPr lang="en-US" dirty="0">
              <a:latin typeface="Plantagenet Cherokee" panose="02020602070100000000" pitchFamily="18" charset="0"/>
            </a:endParaRPr>
          </a:p>
        </p:txBody>
      </p:sp>
      <p:sp>
        <p:nvSpPr>
          <p:cNvPr id="3" name="Content Placeholder 2"/>
          <p:cNvSpPr>
            <a:spLocks noGrp="1"/>
          </p:cNvSpPr>
          <p:nvPr>
            <p:ph idx="1"/>
          </p:nvPr>
        </p:nvSpPr>
        <p:spPr/>
        <p:txBody>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The angels helped bring the Law in the Old Testament, but Christ is better than the angels.</a:t>
            </a:r>
          </a:p>
          <a:p>
            <a:r>
              <a:rPr lang="en-US" b="1" dirty="0" smtClean="0">
                <a:effectLst>
                  <a:outerShdw blurRad="38100" dist="38100" dir="2700000" algn="tl">
                    <a:srgbClr val="000000">
                      <a:alpha val="43137"/>
                    </a:srgbClr>
                  </a:outerShdw>
                </a:effectLst>
                <a:latin typeface="Plantagenet Cherokee" panose="02020602070100000000" pitchFamily="18" charset="0"/>
              </a:rPr>
              <a:t>Verse 4 is clear “having become as much more superior to angels as the name he has inherited is more excellent than theirs.”</a:t>
            </a:r>
            <a:endParaRPr lang="en-US" b="1" dirty="0">
              <a:effectLst>
                <a:outerShdw blurRad="38100" dist="38100" dir="2700000" algn="tl">
                  <a:srgbClr val="000000">
                    <a:alpha val="43137"/>
                  </a:srgbClr>
                </a:outerShdw>
              </a:effectLst>
              <a:latin typeface="Plantagenet Cherokee" panose="02020602070100000000" pitchFamily="18" charset="0"/>
            </a:endParaRPr>
          </a:p>
          <a:p>
            <a:r>
              <a:rPr lang="en-US" b="1" dirty="0" smtClean="0">
                <a:effectLst>
                  <a:outerShdw blurRad="38100" dist="38100" dir="2700000" algn="tl">
                    <a:srgbClr val="000000">
                      <a:alpha val="43137"/>
                    </a:srgbClr>
                  </a:outerShdw>
                </a:effectLst>
                <a:latin typeface="Plantagenet Cherokee" panose="02020602070100000000" pitchFamily="18" charset="0"/>
              </a:rPr>
              <a:t>Christ is better because He is the SON.</a:t>
            </a:r>
            <a:endParaRPr lang="en-US" b="1" dirty="0">
              <a:effectLst>
                <a:outerShdw blurRad="38100" dist="38100" dir="2700000" algn="tl">
                  <a:srgbClr val="000000">
                    <a:alpha val="43137"/>
                  </a:srgbClr>
                </a:outerShdw>
              </a:effectLst>
              <a:latin typeface="Plantagenet Cherokee" panose="02020602070100000000" pitchFamily="18" charset="0"/>
            </a:endParaRPr>
          </a:p>
        </p:txBody>
      </p:sp>
    </p:spTree>
    <p:extLst>
      <p:ext uri="{BB962C8B-B14F-4D97-AF65-F5344CB8AC3E}">
        <p14:creationId xmlns:p14="http://schemas.microsoft.com/office/powerpoint/2010/main" val="11870934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JESUS IS THE SON</a:t>
            </a:r>
            <a:endParaRPr lang="en-US" dirty="0">
              <a:latin typeface="Plantagenet Cherokee" panose="02020602070100000000" pitchFamily="18" charset="0"/>
            </a:endParaRPr>
          </a:p>
        </p:txBody>
      </p:sp>
      <p:sp>
        <p:nvSpPr>
          <p:cNvPr id="3" name="Content Placeholder 2"/>
          <p:cNvSpPr>
            <a:spLocks noGrp="1"/>
          </p:cNvSpPr>
          <p:nvPr>
            <p:ph idx="1"/>
          </p:nvPr>
        </p:nvSpPr>
        <p:spPr/>
        <p:txBody>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O.T. prophecies calling the Messiah “Son”</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Psalm 2:7</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2 Sam 7:14</a:t>
            </a:r>
            <a:endParaRPr lang="en-US" b="1" dirty="0" smtClean="0">
              <a:effectLst>
                <a:outerShdw blurRad="38100" dist="38100" dir="2700000" algn="tl">
                  <a:srgbClr val="000000">
                    <a:alpha val="43137"/>
                  </a:srgbClr>
                </a:outerShdw>
              </a:effectLst>
              <a:latin typeface="Plantagenet Cherokee" panose="02020602070100000000" pitchFamily="18" charset="0"/>
            </a:endParaRPr>
          </a:p>
          <a:p>
            <a:r>
              <a:rPr lang="en-US" b="1" dirty="0" smtClean="0">
                <a:effectLst>
                  <a:outerShdw blurRad="38100" dist="38100" dir="2700000" algn="tl">
                    <a:srgbClr val="000000">
                      <a:alpha val="43137"/>
                    </a:srgbClr>
                  </a:outerShdw>
                </a:effectLst>
                <a:latin typeface="Plantagenet Cherokee" panose="02020602070100000000" pitchFamily="18" charset="0"/>
              </a:rPr>
              <a:t>No angel was ever called “My son”.</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This proves that Jesus was not a mere angel of the Lord God like the JW”s believe.</a:t>
            </a:r>
          </a:p>
        </p:txBody>
      </p:sp>
    </p:spTree>
    <p:extLst>
      <p:ext uri="{BB962C8B-B14F-4D97-AF65-F5344CB8AC3E}">
        <p14:creationId xmlns:p14="http://schemas.microsoft.com/office/powerpoint/2010/main" val="246288489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JESUS IS THE FIRSTBORN</a:t>
            </a:r>
            <a:endParaRPr lang="en-US" dirty="0">
              <a:latin typeface="Plantagenet Cherokee" panose="02020602070100000000" pitchFamily="18" charset="0"/>
            </a:endParaRPr>
          </a:p>
        </p:txBody>
      </p:sp>
      <p:sp>
        <p:nvSpPr>
          <p:cNvPr id="3" name="Content Placeholder 2"/>
          <p:cNvSpPr>
            <a:spLocks noGrp="1"/>
          </p:cNvSpPr>
          <p:nvPr>
            <p:ph idx="1"/>
          </p:nvPr>
        </p:nvSpPr>
        <p:spPr/>
        <p:txBody>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Can mean the child born first to the father, or may mean the child who has the privileges of the inheritance.</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Describing Israel – Ex 4:22</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Describing David – Psalm 89:20, 27</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Describing Jesus – Col. 1:15-18</a:t>
            </a:r>
          </a:p>
        </p:txBody>
      </p:sp>
    </p:spTree>
    <p:extLst>
      <p:ext uri="{BB962C8B-B14F-4D97-AF65-F5344CB8AC3E}">
        <p14:creationId xmlns:p14="http://schemas.microsoft.com/office/powerpoint/2010/main" val="250685176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JESUS THE FIRSTBORN</a:t>
            </a:r>
            <a:endParaRPr lang="en-US" dirty="0">
              <a:latin typeface="Plantagenet Cherokee" panose="02020602070100000000" pitchFamily="18" charset="0"/>
            </a:endParaRPr>
          </a:p>
        </p:txBody>
      </p:sp>
      <p:sp>
        <p:nvSpPr>
          <p:cNvPr id="3" name="Content Placeholder 2"/>
          <p:cNvSpPr>
            <a:spLocks noGrp="1"/>
          </p:cNvSpPr>
          <p:nvPr>
            <p:ph idx="1"/>
          </p:nvPr>
        </p:nvSpPr>
        <p:spPr/>
        <p:txBody>
          <a:bodyPr>
            <a:normAutofit lnSpcReduction="10000"/>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When the firstborn (Messiah/Son) would come, the angels would worship Him.</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Quoted from Duet 32:43</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Angels, prophets, priests, and Apostles not worthy of worship.</a:t>
            </a:r>
          </a:p>
          <a:p>
            <a:pPr lvl="2"/>
            <a:r>
              <a:rPr lang="en-US" b="1" dirty="0" smtClean="0">
                <a:effectLst>
                  <a:outerShdw blurRad="38100" dist="38100" dir="2700000" algn="tl">
                    <a:srgbClr val="000000">
                      <a:alpha val="43137"/>
                    </a:srgbClr>
                  </a:outerShdw>
                </a:effectLst>
                <a:latin typeface="Plantagenet Cherokee" panose="02020602070100000000" pitchFamily="18" charset="0"/>
              </a:rPr>
              <a:t>Rev. 22:8-9</a:t>
            </a:r>
          </a:p>
          <a:p>
            <a:pPr lvl="2"/>
            <a:r>
              <a:rPr lang="en-US" b="1" dirty="0" smtClean="0">
                <a:effectLst>
                  <a:outerShdw blurRad="38100" dist="38100" dir="2700000" algn="tl">
                    <a:srgbClr val="000000">
                      <a:alpha val="43137"/>
                    </a:srgbClr>
                  </a:outerShdw>
                </a:effectLst>
                <a:latin typeface="Plantagenet Cherokee" panose="02020602070100000000" pitchFamily="18" charset="0"/>
              </a:rPr>
              <a:t>Acts 10:25-26</a:t>
            </a:r>
            <a:endParaRPr lang="en-US" b="1" dirty="0" smtClean="0">
              <a:effectLst>
                <a:outerShdw blurRad="38100" dist="38100" dir="2700000" algn="tl">
                  <a:srgbClr val="000000">
                    <a:alpha val="43137"/>
                  </a:srgbClr>
                </a:outerShdw>
              </a:effectLst>
              <a:latin typeface="Plantagenet Cherokee" panose="02020602070100000000" pitchFamily="18" charset="0"/>
            </a:endParaRPr>
          </a:p>
          <a:p>
            <a:pPr lvl="1"/>
            <a:r>
              <a:rPr lang="en-US" b="1" dirty="0" smtClean="0">
                <a:effectLst>
                  <a:outerShdw blurRad="38100" dist="38100" dir="2700000" algn="tl">
                    <a:srgbClr val="000000">
                      <a:alpha val="43137"/>
                    </a:srgbClr>
                  </a:outerShdw>
                </a:effectLst>
                <a:latin typeface="Plantagenet Cherokee" panose="02020602070100000000" pitchFamily="18" charset="0"/>
              </a:rPr>
              <a:t>Jesus received lots of worship</a:t>
            </a:r>
          </a:p>
          <a:p>
            <a:pPr lvl="2"/>
            <a:r>
              <a:rPr lang="en-US" b="1" dirty="0" smtClean="0">
                <a:effectLst>
                  <a:outerShdw blurRad="38100" dist="38100" dir="2700000" algn="tl">
                    <a:srgbClr val="000000">
                      <a:alpha val="43137"/>
                    </a:srgbClr>
                  </a:outerShdw>
                </a:effectLst>
                <a:latin typeface="Plantagenet Cherokee" panose="02020602070100000000" pitchFamily="18" charset="0"/>
              </a:rPr>
              <a:t>Mt. 2:11; Mt 8:2; Mt 9:18; Mt 14:33; Mt 15:25; Mt 28:9, 17; Lk 24:52</a:t>
            </a:r>
          </a:p>
        </p:txBody>
      </p:sp>
    </p:spTree>
    <p:extLst>
      <p:ext uri="{BB962C8B-B14F-4D97-AF65-F5344CB8AC3E}">
        <p14:creationId xmlns:p14="http://schemas.microsoft.com/office/powerpoint/2010/main" val="31626704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JESUS IS GOD</a:t>
            </a:r>
            <a:endParaRPr lang="en-US" dirty="0">
              <a:latin typeface="Plantagenet Cherokee" panose="02020602070100000000" pitchFamily="18" charset="0"/>
            </a:endParaRPr>
          </a:p>
        </p:txBody>
      </p:sp>
      <p:sp>
        <p:nvSpPr>
          <p:cNvPr id="3" name="Content Placeholder 2"/>
          <p:cNvSpPr>
            <a:spLocks noGrp="1"/>
          </p:cNvSpPr>
          <p:nvPr>
            <p:ph idx="1"/>
          </p:nvPr>
        </p:nvSpPr>
        <p:spPr/>
        <p:txBody>
          <a:bodyPr>
            <a:normAutofit fontScale="92500"/>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The “Son” is called “God” Himself</a:t>
            </a:r>
          </a:p>
          <a:p>
            <a:r>
              <a:rPr lang="en-US" b="1" dirty="0" smtClean="0">
                <a:effectLst>
                  <a:outerShdw blurRad="38100" dist="38100" dir="2700000" algn="tl">
                    <a:srgbClr val="000000">
                      <a:alpha val="43137"/>
                    </a:srgbClr>
                  </a:outerShdw>
                </a:effectLst>
                <a:latin typeface="Plantagenet Cherokee" panose="02020602070100000000" pitchFamily="18" charset="0"/>
              </a:rPr>
              <a:t>Makes a distinction between “Son God” and Father God”</a:t>
            </a:r>
          </a:p>
          <a:p>
            <a:r>
              <a:rPr lang="en-US" b="1" dirty="0" smtClean="0">
                <a:effectLst>
                  <a:outerShdw blurRad="38100" dist="38100" dir="2700000" algn="tl">
                    <a:srgbClr val="000000">
                      <a:alpha val="43137"/>
                    </a:srgbClr>
                  </a:outerShdw>
                </a:effectLst>
                <a:latin typeface="Plantagenet Cherokee" panose="02020602070100000000" pitchFamily="18" charset="0"/>
              </a:rPr>
              <a:t>The Son God will reign over the everlasting Kingdom.</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Dan 2:44 and Dan 7:13-14</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An Angel said it has no end – Lk 1:33</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Paul and John both write of it – Col. 1:13; Rev. 1:9</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He was anointed by Mary.</a:t>
            </a:r>
          </a:p>
        </p:txBody>
      </p:sp>
    </p:spTree>
    <p:extLst>
      <p:ext uri="{BB962C8B-B14F-4D97-AF65-F5344CB8AC3E}">
        <p14:creationId xmlns:p14="http://schemas.microsoft.com/office/powerpoint/2010/main" val="10938161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lantagenet Cherokee" panose="02020602070100000000" pitchFamily="18" charset="0"/>
              </a:rPr>
              <a:t>JESUS IS LORD OF CREATION</a:t>
            </a:r>
            <a:endParaRPr lang="en-US" dirty="0">
              <a:latin typeface="Plantagenet Cherokee" panose="02020602070100000000" pitchFamily="18" charset="0"/>
            </a:endParaRPr>
          </a:p>
        </p:txBody>
      </p:sp>
      <p:sp>
        <p:nvSpPr>
          <p:cNvPr id="3" name="Content Placeholder 2"/>
          <p:cNvSpPr>
            <a:spLocks noGrp="1"/>
          </p:cNvSpPr>
          <p:nvPr>
            <p:ph idx="1"/>
          </p:nvPr>
        </p:nvSpPr>
        <p:spPr>
          <a:xfrm>
            <a:off x="457200" y="1600200"/>
            <a:ext cx="8229600" cy="4724400"/>
          </a:xfrm>
        </p:spPr>
        <p:txBody>
          <a:bodyPr/>
          <a:lstStyle/>
          <a:p>
            <a:r>
              <a:rPr lang="en-US" b="1" dirty="0" smtClean="0">
                <a:effectLst>
                  <a:outerShdw blurRad="38100" dist="38100" dir="2700000" algn="tl">
                    <a:srgbClr val="000000">
                      <a:alpha val="43137"/>
                    </a:srgbClr>
                  </a:outerShdw>
                </a:effectLst>
                <a:latin typeface="Plantagenet Cherokee" panose="02020602070100000000" pitchFamily="18" charset="0"/>
              </a:rPr>
              <a:t>He is the creator of the universe.</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John &amp; Paul both write of it. Jn. 1:3; Col. 1:16-17, Heb. 1:2</a:t>
            </a:r>
          </a:p>
          <a:p>
            <a:r>
              <a:rPr lang="en-US" b="1" dirty="0" smtClean="0">
                <a:effectLst>
                  <a:outerShdw blurRad="38100" dist="38100" dir="2700000" algn="tl">
                    <a:srgbClr val="000000">
                      <a:alpha val="43137"/>
                    </a:srgbClr>
                  </a:outerShdw>
                </a:effectLst>
                <a:latin typeface="Plantagenet Cherokee" panose="02020602070100000000" pitchFamily="18" charset="0"/>
              </a:rPr>
              <a:t>He is eternal.</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The physical will perish, but not the spirit. 2 Pet. 3:10-12; Heb. 13:8</a:t>
            </a:r>
          </a:p>
          <a:p>
            <a:r>
              <a:rPr lang="en-US" b="1" dirty="0" smtClean="0">
                <a:effectLst>
                  <a:outerShdw blurRad="38100" dist="38100" dir="2700000" algn="tl">
                    <a:srgbClr val="000000">
                      <a:alpha val="43137"/>
                    </a:srgbClr>
                  </a:outerShdw>
                </a:effectLst>
                <a:latin typeface="Plantagenet Cherokee" panose="02020602070100000000" pitchFamily="18" charset="0"/>
              </a:rPr>
              <a:t>He is the above the angels.</a:t>
            </a:r>
          </a:p>
          <a:p>
            <a:pPr lvl="1"/>
            <a:r>
              <a:rPr lang="en-US" b="1" dirty="0" smtClean="0">
                <a:effectLst>
                  <a:outerShdw blurRad="38100" dist="38100" dir="2700000" algn="tl">
                    <a:srgbClr val="000000">
                      <a:alpha val="43137"/>
                    </a:srgbClr>
                  </a:outerShdw>
                </a:effectLst>
                <a:latin typeface="Plantagenet Cherokee" panose="02020602070100000000" pitchFamily="18" charset="0"/>
              </a:rPr>
              <a:t>The angels can not say “sit at my right hand.”</a:t>
            </a:r>
            <a:endParaRPr lang="en-US" b="1" dirty="0">
              <a:effectLst>
                <a:outerShdw blurRad="38100" dist="38100" dir="2700000" algn="tl">
                  <a:srgbClr val="000000">
                    <a:alpha val="43137"/>
                  </a:srgbClr>
                </a:outerShdw>
              </a:effectLst>
              <a:latin typeface="Plantagenet Cherokee" panose="02020602070100000000" pitchFamily="18" charset="0"/>
            </a:endParaRPr>
          </a:p>
        </p:txBody>
      </p:sp>
    </p:spTree>
    <p:extLst>
      <p:ext uri="{BB962C8B-B14F-4D97-AF65-F5344CB8AC3E}">
        <p14:creationId xmlns:p14="http://schemas.microsoft.com/office/powerpoint/2010/main" val="53879413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Autofit/>
          </a:bodyPr>
          <a:lstStyle/>
          <a:p>
            <a:r>
              <a:rPr lang="en-US" sz="5400" b="1" dirty="0" smtClean="0">
                <a:effectLst>
                  <a:outerShdw blurRad="38100" dist="38100" dir="2700000" algn="tl">
                    <a:srgbClr val="000000">
                      <a:alpha val="43137"/>
                    </a:srgbClr>
                  </a:outerShdw>
                </a:effectLst>
                <a:latin typeface="Plantagenet Cherokee" panose="02020602070100000000" pitchFamily="18" charset="0"/>
              </a:rPr>
              <a:t>JESUS IS BETTER </a:t>
            </a:r>
            <a:endParaRPr lang="en-US" sz="5400" b="1" dirty="0">
              <a:effectLst>
                <a:outerShdw blurRad="38100" dist="38100" dir="2700000" algn="tl">
                  <a:srgbClr val="000000">
                    <a:alpha val="43137"/>
                  </a:srgbClr>
                </a:outerShdw>
              </a:effectLst>
              <a:latin typeface="Plantagenet Cherokee" panose="02020602070100000000" pitchFamily="18" charset="0"/>
            </a:endParaRPr>
          </a:p>
        </p:txBody>
      </p:sp>
      <p:sp>
        <p:nvSpPr>
          <p:cNvPr id="3" name="Content Placeholder 2"/>
          <p:cNvSpPr>
            <a:spLocks noGrp="1"/>
          </p:cNvSpPr>
          <p:nvPr>
            <p:ph idx="1"/>
          </p:nvPr>
        </p:nvSpPr>
        <p:spPr>
          <a:xfrm>
            <a:off x="457200" y="762000"/>
            <a:ext cx="8229600" cy="6095999"/>
          </a:xfrm>
        </p:spPr>
        <p:txBody>
          <a:bodyPr>
            <a:noAutofit/>
          </a:bodyPr>
          <a:lstStyle/>
          <a:p>
            <a:r>
              <a:rPr lang="en-US" sz="4000" b="1" dirty="0" smtClean="0">
                <a:effectLst>
                  <a:outerShdw blurRad="38100" dist="38100" dir="2700000" algn="tl">
                    <a:srgbClr val="000000">
                      <a:alpha val="43137"/>
                    </a:srgbClr>
                  </a:outerShdw>
                </a:effectLst>
                <a:latin typeface="Plantagenet Cherokee" panose="02020602070100000000" pitchFamily="18" charset="0"/>
              </a:rPr>
              <a:t>The angels are servants and minsters to the Son. They worship the SON.</a:t>
            </a:r>
          </a:p>
          <a:p>
            <a:r>
              <a:rPr lang="en-US" sz="4000" b="1" dirty="0" smtClean="0">
                <a:effectLst>
                  <a:outerShdw blurRad="38100" dist="38100" dir="2700000" algn="tl">
                    <a:srgbClr val="000000">
                      <a:alpha val="43137"/>
                    </a:srgbClr>
                  </a:outerShdw>
                </a:effectLst>
                <a:latin typeface="Plantagenet Cherokee" panose="02020602070100000000" pitchFamily="18" charset="0"/>
              </a:rPr>
              <a:t>Jesus is the SON who sits at the right hand of God.</a:t>
            </a:r>
          </a:p>
          <a:p>
            <a:r>
              <a:rPr lang="en-US" sz="4000" b="1" dirty="0" smtClean="0">
                <a:effectLst>
                  <a:outerShdw blurRad="38100" dist="38100" dir="2700000" algn="tl">
                    <a:srgbClr val="000000">
                      <a:alpha val="43137"/>
                    </a:srgbClr>
                  </a:outerShdw>
                </a:effectLst>
                <a:latin typeface="Plantagenet Cherokee" panose="02020602070100000000" pitchFamily="18" charset="0"/>
              </a:rPr>
              <a:t>Jesus is the “firstborn” with its </a:t>
            </a:r>
            <a:r>
              <a:rPr lang="en-US" sz="4000" b="1" dirty="0" smtClean="0">
                <a:solidFill>
                  <a:schemeClr val="bg1"/>
                </a:solidFill>
                <a:effectLst>
                  <a:outerShdw blurRad="38100" dist="38100" dir="2700000" algn="tl">
                    <a:srgbClr val="000000">
                      <a:alpha val="43137"/>
                    </a:srgbClr>
                  </a:outerShdw>
                </a:effectLst>
                <a:latin typeface="Plantagenet Cherokee" panose="02020602070100000000" pitchFamily="18" charset="0"/>
              </a:rPr>
              <a:t>inheritance.</a:t>
            </a:r>
          </a:p>
          <a:p>
            <a:r>
              <a:rPr lang="en-US" sz="4000" b="1" dirty="0" smtClean="0">
                <a:solidFill>
                  <a:schemeClr val="bg1"/>
                </a:solidFill>
                <a:effectLst>
                  <a:outerShdw blurRad="38100" dist="38100" dir="2700000" algn="tl">
                    <a:srgbClr val="000000">
                      <a:alpha val="43137"/>
                    </a:srgbClr>
                  </a:outerShdw>
                </a:effectLst>
                <a:latin typeface="Plantagenet Cherokee" panose="02020602070100000000" pitchFamily="18" charset="0"/>
              </a:rPr>
              <a:t>Jesus is a part of the Godhead.</a:t>
            </a:r>
          </a:p>
          <a:p>
            <a:r>
              <a:rPr lang="en-US" sz="4000" b="1" dirty="0" smtClean="0">
                <a:solidFill>
                  <a:schemeClr val="bg1"/>
                </a:solidFill>
                <a:effectLst>
                  <a:outerShdw blurRad="38100" dist="38100" dir="2700000" algn="tl">
                    <a:srgbClr val="000000">
                      <a:alpha val="43137"/>
                    </a:srgbClr>
                  </a:outerShdw>
                </a:effectLst>
                <a:latin typeface="Plantagenet Cherokee" panose="02020602070100000000" pitchFamily="18" charset="0"/>
              </a:rPr>
              <a:t>Jesus helped create the world.</a:t>
            </a:r>
            <a:endParaRPr lang="en-US" sz="4000" b="1" dirty="0">
              <a:solidFill>
                <a:schemeClr val="bg1"/>
              </a:solidFill>
              <a:effectLst>
                <a:outerShdw blurRad="38100" dist="38100" dir="2700000" algn="tl">
                  <a:srgbClr val="000000">
                    <a:alpha val="43137"/>
                  </a:srgbClr>
                </a:outerShdw>
              </a:effectLst>
              <a:latin typeface="Plantagenet Cherokee" panose="02020602070100000000" pitchFamily="18" charset="0"/>
            </a:endParaRPr>
          </a:p>
        </p:txBody>
      </p:sp>
    </p:spTree>
    <p:extLst>
      <p:ext uri="{BB962C8B-B14F-4D97-AF65-F5344CB8AC3E}">
        <p14:creationId xmlns:p14="http://schemas.microsoft.com/office/powerpoint/2010/main" val="220268314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3008313" cy="641350"/>
          </a:xfrm>
        </p:spPr>
        <p:txBody>
          <a:bodyPr>
            <a:normAutofit/>
          </a:bodyPr>
          <a:lstStyle/>
          <a:p>
            <a:r>
              <a:rPr lang="en-US" sz="3200" dirty="0" smtClean="0">
                <a:latin typeface="Plantagenet Cherokee" panose="02020602070100000000" pitchFamily="18" charset="0"/>
              </a:rPr>
              <a:t>CLOSING</a:t>
            </a:r>
            <a:endParaRPr lang="en-US" sz="3200" dirty="0">
              <a:latin typeface="Plantagenet Cherokee" panose="02020602070100000000"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5050" y="304800"/>
            <a:ext cx="5111750" cy="5867400"/>
          </a:xfrm>
        </p:spPr>
      </p:pic>
      <p:sp>
        <p:nvSpPr>
          <p:cNvPr id="4" name="Text Placeholder 3"/>
          <p:cNvSpPr>
            <a:spLocks noGrp="1"/>
          </p:cNvSpPr>
          <p:nvPr>
            <p:ph type="body" sz="half" idx="2"/>
          </p:nvPr>
        </p:nvSpPr>
        <p:spPr>
          <a:xfrm>
            <a:off x="457200" y="914400"/>
            <a:ext cx="3008313" cy="5211763"/>
          </a:xfrm>
        </p:spPr>
        <p:txBody>
          <a:bodyPr>
            <a:normAutofit fontScale="92500" lnSpcReduction="10000"/>
          </a:bodyPr>
          <a:lstStyle/>
          <a:p>
            <a:r>
              <a:rPr lang="en-US" sz="2800" b="1" dirty="0" smtClean="0">
                <a:solidFill>
                  <a:srgbClr val="C00000"/>
                </a:solidFill>
                <a:effectLst>
                  <a:outerShdw blurRad="38100" dist="38100" dir="2700000" algn="tl">
                    <a:srgbClr val="000000">
                      <a:alpha val="43137"/>
                    </a:srgbClr>
                  </a:outerShdw>
                </a:effectLst>
                <a:latin typeface="Plantagenet Cherokee" panose="02020602070100000000" pitchFamily="18" charset="0"/>
              </a:rPr>
              <a:t>HEAR</a:t>
            </a:r>
            <a:r>
              <a:rPr lang="en-US" sz="2800" b="1" dirty="0" smtClean="0">
                <a:effectLst>
                  <a:outerShdw blurRad="38100" dist="38100" dir="2700000" algn="tl">
                    <a:srgbClr val="000000">
                      <a:alpha val="43137"/>
                    </a:srgbClr>
                  </a:outerShdw>
                </a:effectLst>
                <a:latin typeface="Plantagenet Cherokee" panose="02020602070100000000" pitchFamily="18" charset="0"/>
              </a:rPr>
              <a:t> the word of God and </a:t>
            </a:r>
            <a:r>
              <a:rPr lang="en-US" sz="2800" b="1" dirty="0" smtClean="0">
                <a:solidFill>
                  <a:srgbClr val="C00000"/>
                </a:solidFill>
                <a:effectLst>
                  <a:outerShdw blurRad="38100" dist="38100" dir="2700000" algn="tl">
                    <a:srgbClr val="000000">
                      <a:alpha val="43137"/>
                    </a:srgbClr>
                  </a:outerShdw>
                </a:effectLst>
                <a:latin typeface="Plantagenet Cherokee" panose="02020602070100000000" pitchFamily="18" charset="0"/>
              </a:rPr>
              <a:t>BELIEVE</a:t>
            </a:r>
            <a:r>
              <a:rPr lang="en-US" sz="2800" b="1" dirty="0" smtClean="0">
                <a:effectLst>
                  <a:outerShdw blurRad="38100" dist="38100" dir="2700000" algn="tl">
                    <a:srgbClr val="000000">
                      <a:alpha val="43137"/>
                    </a:srgbClr>
                  </a:outerShdw>
                </a:effectLst>
                <a:latin typeface="Plantagenet Cherokee" panose="02020602070100000000" pitchFamily="18" charset="0"/>
              </a:rPr>
              <a:t> that Jesus is the Messiah. </a:t>
            </a:r>
            <a:r>
              <a:rPr lang="en-US" sz="2800" b="1" dirty="0" smtClean="0">
                <a:solidFill>
                  <a:srgbClr val="C00000"/>
                </a:solidFill>
                <a:effectLst>
                  <a:outerShdw blurRad="38100" dist="38100" dir="2700000" algn="tl">
                    <a:srgbClr val="000000">
                      <a:alpha val="43137"/>
                    </a:srgbClr>
                  </a:outerShdw>
                </a:effectLst>
                <a:latin typeface="Plantagenet Cherokee" panose="02020602070100000000" pitchFamily="18" charset="0"/>
              </a:rPr>
              <a:t>CONFESS</a:t>
            </a:r>
            <a:r>
              <a:rPr lang="en-US" sz="2800" b="1" dirty="0" smtClean="0">
                <a:effectLst>
                  <a:outerShdw blurRad="38100" dist="38100" dir="2700000" algn="tl">
                    <a:srgbClr val="000000">
                      <a:alpha val="43137"/>
                    </a:srgbClr>
                  </a:outerShdw>
                </a:effectLst>
                <a:latin typeface="Plantagenet Cherokee" panose="02020602070100000000" pitchFamily="18" charset="0"/>
              </a:rPr>
              <a:t> that you will follow and serve Him as your Lord. </a:t>
            </a:r>
            <a:r>
              <a:rPr lang="en-US" sz="2800" b="1" dirty="0" smtClean="0">
                <a:solidFill>
                  <a:srgbClr val="C00000"/>
                </a:solidFill>
                <a:effectLst>
                  <a:outerShdw blurRad="38100" dist="38100" dir="2700000" algn="tl">
                    <a:srgbClr val="000000">
                      <a:alpha val="43137"/>
                    </a:srgbClr>
                  </a:outerShdw>
                </a:effectLst>
                <a:latin typeface="Plantagenet Cherokee" panose="02020602070100000000" pitchFamily="18" charset="0"/>
              </a:rPr>
              <a:t>REPENT</a:t>
            </a:r>
            <a:r>
              <a:rPr lang="en-US" sz="2800" b="1" dirty="0" smtClean="0">
                <a:effectLst>
                  <a:outerShdw blurRad="38100" dist="38100" dir="2700000" algn="tl">
                    <a:srgbClr val="000000">
                      <a:alpha val="43137"/>
                    </a:srgbClr>
                  </a:outerShdw>
                </a:effectLst>
                <a:latin typeface="Plantagenet Cherokee" panose="02020602070100000000" pitchFamily="18" charset="0"/>
              </a:rPr>
              <a:t> of the life of sin that He has set you free from and be </a:t>
            </a:r>
            <a:r>
              <a:rPr lang="en-US" sz="2800" b="1" dirty="0" smtClean="0">
                <a:solidFill>
                  <a:srgbClr val="C00000"/>
                </a:solidFill>
                <a:effectLst>
                  <a:outerShdw blurRad="38100" dist="38100" dir="2700000" algn="tl">
                    <a:srgbClr val="000000">
                      <a:alpha val="43137"/>
                    </a:srgbClr>
                  </a:outerShdw>
                </a:effectLst>
                <a:latin typeface="Plantagenet Cherokee" panose="02020602070100000000" pitchFamily="18" charset="0"/>
              </a:rPr>
              <a:t>BAPTIZED</a:t>
            </a:r>
            <a:r>
              <a:rPr lang="en-US" sz="2800" b="1" dirty="0" smtClean="0">
                <a:effectLst>
                  <a:outerShdw blurRad="38100" dist="38100" dir="2700000" algn="tl">
                    <a:srgbClr val="000000">
                      <a:alpha val="43137"/>
                    </a:srgbClr>
                  </a:outerShdw>
                </a:effectLst>
                <a:latin typeface="Plantagenet Cherokee" panose="02020602070100000000" pitchFamily="18" charset="0"/>
              </a:rPr>
              <a:t> into Christ entering His Kingdom.</a:t>
            </a:r>
          </a:p>
          <a:p>
            <a:endParaRPr lang="en-US" dirty="0"/>
          </a:p>
        </p:txBody>
      </p:sp>
    </p:spTree>
    <p:extLst>
      <p:ext uri="{BB962C8B-B14F-4D97-AF65-F5344CB8AC3E}">
        <p14:creationId xmlns:p14="http://schemas.microsoft.com/office/powerpoint/2010/main" val="27487895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TotalTime>
  <Words>532</Words>
  <Application>Microsoft Office PowerPoint</Application>
  <PresentationFormat>On-screen Show (4:3)</PresentationFormat>
  <Paragraphs>52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JESUS SUPERIOR TO THE ANGELS</vt:lpstr>
      <vt:lpstr>INTRODUCTION</vt:lpstr>
      <vt:lpstr>INTRODUCTION</vt:lpstr>
      <vt:lpstr>JESUS IS THE SON</vt:lpstr>
      <vt:lpstr>JESUS IS THE FIRSTBORN</vt:lpstr>
      <vt:lpstr>JESUS THE FIRSTBORN</vt:lpstr>
      <vt:lpstr>JESUS IS GOD</vt:lpstr>
      <vt:lpstr>JESUS IS LORD OF CREATION</vt:lpstr>
      <vt:lpstr>JESUS IS BETTER </vt:lpstr>
      <vt:lpstr>CLOSING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DEREK</dc:creator>
  <cp:lastModifiedBy>DEREK</cp:lastModifiedBy>
  <cp:revision>9</cp:revision>
  <dcterms:created xsi:type="dcterms:W3CDTF">2014-02-08T18:42:56Z</dcterms:created>
  <dcterms:modified xsi:type="dcterms:W3CDTF">2014-02-08T20:56:26Z</dcterms:modified>
</cp:coreProperties>
</file>