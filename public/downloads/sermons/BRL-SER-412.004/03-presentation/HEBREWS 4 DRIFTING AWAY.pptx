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6" r:id="rId3"/>
    <p:sldId id="257" r:id="rId4"/>
    <p:sldId id="259" r:id="rId5"/>
    <p:sldId id="258"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8" d="100"/>
          <a:sy n="48"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1456842-E8A2-4A03-BBFF-66139E3CC3BE}" type="datetimeFigureOut">
              <a:rPr lang="en-US" smtClean="0"/>
              <a:t>2/13/2014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1084305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456842-E8A2-4A03-BBFF-66139E3CC3BE}" type="datetimeFigureOut">
              <a:rPr lang="en-US" smtClean="0"/>
              <a:t>2/13/2014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3618957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456842-E8A2-4A03-BBFF-66139E3CC3BE}" type="datetimeFigureOut">
              <a:rPr lang="en-US" smtClean="0"/>
              <a:t>2/13/2014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1668468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1456842-E8A2-4A03-BBFF-66139E3CC3BE}" type="datetimeFigureOut">
              <a:rPr lang="en-US" smtClean="0"/>
              <a:t>2/13/2014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3727241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456842-E8A2-4A03-BBFF-66139E3CC3BE}" type="datetimeFigureOut">
              <a:rPr lang="en-US" smtClean="0"/>
              <a:t>2/13/2014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237053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456842-E8A2-4A03-BBFF-66139E3CC3BE}" type="datetimeFigureOut">
              <a:rPr lang="en-US" smtClean="0"/>
              <a:t>2/13/2014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4198561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456842-E8A2-4A03-BBFF-66139E3CC3BE}" type="datetimeFigureOut">
              <a:rPr lang="en-US" smtClean="0"/>
              <a:t>2/13/2014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1346510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456842-E8A2-4A03-BBFF-66139E3CC3BE}" type="datetimeFigureOut">
              <a:rPr lang="en-US" smtClean="0"/>
              <a:t>2/13/2014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1901462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456842-E8A2-4A03-BBFF-66139E3CC3BE}" type="datetimeFigureOut">
              <a:rPr lang="en-US" smtClean="0"/>
              <a:t>2/13/2014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3792696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456842-E8A2-4A03-BBFF-66139E3CC3BE}" type="datetimeFigureOut">
              <a:rPr lang="en-US" smtClean="0"/>
              <a:t>2/13/2014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1828917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456842-E8A2-4A03-BBFF-66139E3CC3BE}" type="datetimeFigureOut">
              <a:rPr lang="en-US" smtClean="0"/>
              <a:t>2/13/2014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599C2-2556-4A2E-9CE8-4B12B5AFD105}" type="slidenum">
              <a:rPr lang="en-US" smtClean="0"/>
              <a:t>‹#›</a:t>
            </a:fld>
            <a:endParaRPr lang="en-US"/>
          </a:p>
        </p:txBody>
      </p:sp>
    </p:spTree>
    <p:extLst>
      <p:ext uri="{BB962C8B-B14F-4D97-AF65-F5344CB8AC3E}">
        <p14:creationId xmlns:p14="http://schemas.microsoft.com/office/powerpoint/2010/main" val="85709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56842-E8A2-4A03-BBFF-66139E3CC3BE}" type="datetimeFigureOut">
              <a:rPr lang="en-US" smtClean="0"/>
              <a:t>2/13/2014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F599C2-2556-4A2E-9CE8-4B12B5AFD105}" type="slidenum">
              <a:rPr lang="en-US" smtClean="0"/>
              <a:t>‹#›</a:t>
            </a:fld>
            <a:endParaRPr lang="en-US"/>
          </a:p>
        </p:txBody>
      </p:sp>
    </p:spTree>
    <p:extLst>
      <p:ext uri="{BB962C8B-B14F-4D97-AF65-F5344CB8AC3E}">
        <p14:creationId xmlns:p14="http://schemas.microsoft.com/office/powerpoint/2010/main" val="1200317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0" b="-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851598"/>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3794"/>
            <a:ext cx="9144000" cy="1701047"/>
          </a:xfrm>
        </p:spPr>
        <p:txBody>
          <a:bodyPr>
            <a:noAutofit/>
          </a:bodyPr>
          <a:lstStyle/>
          <a:p>
            <a:r>
              <a:rPr lang="en-US" sz="11500" b="1" dirty="0" smtClean="0">
                <a:solidFill>
                  <a:srgbClr val="FF0000"/>
                </a:solidFill>
                <a:effectLst>
                  <a:outerShdw blurRad="38100" dist="38100" dir="2700000" algn="tl">
                    <a:srgbClr val="000000">
                      <a:alpha val="43137"/>
                    </a:srgbClr>
                  </a:outerShdw>
                </a:effectLst>
                <a:latin typeface="Gabriola" panose="04040605051002020D02" pitchFamily="82" charset="0"/>
                <a:cs typeface="Aharoni" panose="02010803020104030203" pitchFamily="2" charset="-79"/>
              </a:rPr>
              <a:t>DRIFITING AWAY</a:t>
            </a:r>
            <a:endParaRPr lang="en-US" sz="11500" b="1" dirty="0">
              <a:solidFill>
                <a:srgbClr val="FF0000"/>
              </a:solidFill>
              <a:effectLst>
                <a:outerShdw blurRad="38100" dist="38100" dir="2700000" algn="tl">
                  <a:srgbClr val="000000">
                    <a:alpha val="43137"/>
                  </a:srgbClr>
                </a:outerShdw>
              </a:effectLst>
              <a:latin typeface="Gabriola" panose="04040605051002020D02" pitchFamily="82" charset="0"/>
              <a:cs typeface="Aharoni" panose="02010803020104030203" pitchFamily="2" charset="-79"/>
            </a:endParaRPr>
          </a:p>
        </p:txBody>
      </p:sp>
      <p:sp>
        <p:nvSpPr>
          <p:cNvPr id="3" name="Subtitle 2"/>
          <p:cNvSpPr>
            <a:spLocks noGrp="1"/>
          </p:cNvSpPr>
          <p:nvPr>
            <p:ph type="subTitle" idx="1"/>
          </p:nvPr>
        </p:nvSpPr>
        <p:spPr>
          <a:xfrm>
            <a:off x="1524000" y="5021179"/>
            <a:ext cx="9144000" cy="1652337"/>
          </a:xfrm>
        </p:spPr>
        <p:txBody>
          <a:bodyPr>
            <a:normAutofit/>
          </a:bodyPr>
          <a:lstStyle/>
          <a:p>
            <a:r>
              <a:rPr lang="en-US" sz="9600" dirty="0" smtClean="0">
                <a:solidFill>
                  <a:srgbClr val="FF0000"/>
                </a:solidFill>
                <a:latin typeface="Gabriola" panose="04040605051002020D02" pitchFamily="82" charset="0"/>
              </a:rPr>
              <a:t>Hebrews 2:1-4</a:t>
            </a:r>
            <a:endParaRPr lang="en-US" sz="9600" dirty="0">
              <a:solidFill>
                <a:srgbClr val="FF0000"/>
              </a:solidFill>
              <a:latin typeface="Gabriola" panose="04040605051002020D02" pitchFamily="82" charset="0"/>
            </a:endParaRPr>
          </a:p>
        </p:txBody>
      </p:sp>
    </p:spTree>
    <p:extLst>
      <p:ext uri="{BB962C8B-B14F-4D97-AF65-F5344CB8AC3E}">
        <p14:creationId xmlns:p14="http://schemas.microsoft.com/office/powerpoint/2010/main" val="746167435"/>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800" b="1" dirty="0" smtClean="0">
                <a:solidFill>
                  <a:srgbClr val="FF0000"/>
                </a:solidFill>
                <a:effectLst>
                  <a:outerShdw blurRad="38100" dist="38100" dir="2700000" algn="tl">
                    <a:srgbClr val="000000">
                      <a:alpha val="43137"/>
                    </a:srgbClr>
                  </a:outerShdw>
                </a:effectLst>
                <a:latin typeface="Gabriola" panose="04040605051002020D02" pitchFamily="82" charset="0"/>
              </a:rPr>
              <a:t>INTRODUCTION</a:t>
            </a:r>
            <a:endParaRPr lang="en-US" sz="88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
        <p:nvSpPr>
          <p:cNvPr id="3" name="Content Placeholder 2"/>
          <p:cNvSpPr>
            <a:spLocks noGrp="1"/>
          </p:cNvSpPr>
          <p:nvPr>
            <p:ph idx="1"/>
          </p:nvPr>
        </p:nvSpPr>
        <p:spPr/>
        <p:txBody>
          <a:bodyPr>
            <a:normAutofit/>
          </a:bodyPr>
          <a:lstStyle/>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A concern of drifting back into the Old Law</a:t>
            </a:r>
          </a:p>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Reminds them that Christ is superior to the prophets and angels in chapter one.</a:t>
            </a:r>
          </a:p>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This is the first of several exhortations wedged in the Letter</a:t>
            </a:r>
            <a:endParaRPr lang="en-US" sz="54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1400998199"/>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755" y="3682917"/>
            <a:ext cx="10515600" cy="2852737"/>
          </a:xfrm>
        </p:spPr>
        <p:txBody>
          <a:bodyPr>
            <a:normAutofit/>
          </a:bodyPr>
          <a:lstStyle/>
          <a:p>
            <a:r>
              <a:rPr lang="en-US" sz="11500" b="1" dirty="0" smtClean="0">
                <a:solidFill>
                  <a:srgbClr val="FF0000"/>
                </a:solidFill>
                <a:effectLst>
                  <a:outerShdw blurRad="38100" dist="38100" dir="2700000" algn="tl">
                    <a:srgbClr val="000000">
                      <a:alpha val="43137"/>
                    </a:srgbClr>
                  </a:outerShdw>
                </a:effectLst>
                <a:latin typeface="Gabriola" panose="04040605051002020D02" pitchFamily="82" charset="0"/>
              </a:rPr>
              <a:t>THE EXHORTATION</a:t>
            </a:r>
            <a:endParaRPr lang="en-US" sz="115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143874075"/>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3368841"/>
          </a:xfrm>
        </p:spPr>
        <p:txBody>
          <a:bodyPr>
            <a:noAutofit/>
          </a:bodyPr>
          <a:lstStyle/>
          <a:p>
            <a:r>
              <a:rPr lang="en-US" sz="4800" b="1" dirty="0" smtClean="0">
                <a:solidFill>
                  <a:srgbClr val="FF0000"/>
                </a:solidFill>
                <a:effectLst>
                  <a:outerShdw blurRad="38100" dist="38100" dir="2700000" algn="tl">
                    <a:srgbClr val="000000">
                      <a:alpha val="43137"/>
                    </a:srgbClr>
                  </a:outerShdw>
                </a:effectLst>
                <a:latin typeface="Gabriola" panose="04040605051002020D02" pitchFamily="82" charset="0"/>
              </a:rPr>
              <a:t>“DRIFTING AWAY” MEANS ONE CAN BE SEPARATED/LOST FROM CHRIST AND SALVATION</a:t>
            </a:r>
            <a:r>
              <a:rPr lang="en-US" sz="13800" b="1" dirty="0" smtClean="0">
                <a:solidFill>
                  <a:srgbClr val="FF0000"/>
                </a:solidFill>
                <a:effectLst>
                  <a:outerShdw blurRad="38100" dist="38100" dir="2700000" algn="tl">
                    <a:srgbClr val="000000">
                      <a:alpha val="43137"/>
                    </a:srgbClr>
                  </a:outerShdw>
                </a:effectLst>
                <a:latin typeface="Gabriola" panose="04040605051002020D02" pitchFamily="82" charset="0"/>
              </a:rPr>
              <a:t/>
            </a:r>
            <a:br>
              <a:rPr lang="en-US" sz="13800" b="1" dirty="0" smtClean="0">
                <a:solidFill>
                  <a:srgbClr val="FF0000"/>
                </a:solidFill>
                <a:effectLst>
                  <a:outerShdw blurRad="38100" dist="38100" dir="2700000" algn="tl">
                    <a:srgbClr val="000000">
                      <a:alpha val="43137"/>
                    </a:srgbClr>
                  </a:outerShdw>
                </a:effectLst>
                <a:latin typeface="Gabriola" panose="04040605051002020D02" pitchFamily="82" charset="0"/>
              </a:rPr>
            </a:br>
            <a:endParaRPr lang="en-US" sz="138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
        <p:nvSpPr>
          <p:cNvPr id="3" name="Content Placeholder 2"/>
          <p:cNvSpPr>
            <a:spLocks noGrp="1"/>
          </p:cNvSpPr>
          <p:nvPr>
            <p:ph idx="1"/>
          </p:nvPr>
        </p:nvSpPr>
        <p:spPr>
          <a:xfrm>
            <a:off x="838200" y="1825625"/>
            <a:ext cx="10515600" cy="3452228"/>
          </a:xfrm>
        </p:spPr>
        <p:txBody>
          <a:bodyPr>
            <a:normAutofit/>
          </a:bodyPr>
          <a:lstStyle/>
          <a:p>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Happens through </a:t>
            </a:r>
            <a:r>
              <a:rPr lang="en-US" sz="5000" b="1" u="sng" dirty="0" smtClean="0">
                <a:solidFill>
                  <a:srgbClr val="FF0000"/>
                </a:solidFill>
                <a:effectLst>
                  <a:outerShdw blurRad="38100" dist="38100" dir="2700000" algn="tl">
                    <a:srgbClr val="000000">
                      <a:alpha val="43137"/>
                    </a:srgbClr>
                  </a:outerShdw>
                </a:effectLst>
                <a:latin typeface="Gabriola" panose="04040605051002020D02" pitchFamily="82" charset="0"/>
              </a:rPr>
              <a:t>neglect</a:t>
            </a:r>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 – 2:3</a:t>
            </a:r>
          </a:p>
          <a:p>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Or we can </a:t>
            </a:r>
            <a:r>
              <a:rPr lang="en-US" sz="5000" b="1" u="sng" dirty="0" smtClean="0">
                <a:solidFill>
                  <a:srgbClr val="FF0000"/>
                </a:solidFill>
                <a:effectLst>
                  <a:outerShdw blurRad="38100" dist="38100" dir="2700000" algn="tl">
                    <a:srgbClr val="000000">
                      <a:alpha val="43137"/>
                    </a:srgbClr>
                  </a:outerShdw>
                </a:effectLst>
                <a:latin typeface="Gabriola" panose="04040605051002020D02" pitchFamily="82" charset="0"/>
              </a:rPr>
              <a:t>depart</a:t>
            </a:r>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 – 6:12-14</a:t>
            </a:r>
          </a:p>
          <a:p>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Even to the point of </a:t>
            </a:r>
            <a:r>
              <a:rPr lang="en-US" sz="5000" b="1" u="sng" dirty="0" smtClean="0">
                <a:solidFill>
                  <a:srgbClr val="FF0000"/>
                </a:solidFill>
                <a:effectLst>
                  <a:outerShdw blurRad="38100" dist="38100" dir="2700000" algn="tl">
                    <a:srgbClr val="000000">
                      <a:alpha val="43137"/>
                    </a:srgbClr>
                  </a:outerShdw>
                </a:effectLst>
                <a:latin typeface="Gabriola" panose="04040605051002020D02" pitchFamily="82" charset="0"/>
              </a:rPr>
              <a:t>no forgiveness</a:t>
            </a:r>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 – 6:4-6</a:t>
            </a:r>
          </a:p>
          <a:p>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And the sacrifice of Christ is </a:t>
            </a:r>
            <a:r>
              <a:rPr lang="en-US" sz="5000" b="1" u="sng" dirty="0" smtClean="0">
                <a:solidFill>
                  <a:srgbClr val="FF0000"/>
                </a:solidFill>
                <a:effectLst>
                  <a:outerShdw blurRad="38100" dist="38100" dir="2700000" algn="tl">
                    <a:srgbClr val="000000">
                      <a:alpha val="43137"/>
                    </a:srgbClr>
                  </a:outerShdw>
                </a:effectLst>
                <a:latin typeface="Gabriola" panose="04040605051002020D02" pitchFamily="82" charset="0"/>
              </a:rPr>
              <a:t>unavailable</a:t>
            </a:r>
            <a:r>
              <a:rPr lang="en-US" sz="5000" b="1" dirty="0" smtClean="0">
                <a:solidFill>
                  <a:srgbClr val="FF0000"/>
                </a:solidFill>
                <a:effectLst>
                  <a:outerShdw blurRad="38100" dist="38100" dir="2700000" algn="tl">
                    <a:srgbClr val="000000">
                      <a:alpha val="43137"/>
                    </a:srgbClr>
                  </a:outerShdw>
                </a:effectLst>
                <a:latin typeface="Gabriola" panose="04040605051002020D02" pitchFamily="82" charset="0"/>
              </a:rPr>
              <a:t> – 10:26-27</a:t>
            </a:r>
          </a:p>
        </p:txBody>
      </p:sp>
      <p:sp>
        <p:nvSpPr>
          <p:cNvPr id="4" name="TextBox 3"/>
          <p:cNvSpPr txBox="1"/>
          <p:nvPr/>
        </p:nvSpPr>
        <p:spPr>
          <a:xfrm>
            <a:off x="240632" y="5743074"/>
            <a:ext cx="11710736" cy="830997"/>
          </a:xfrm>
          <a:prstGeom prst="rect">
            <a:avLst/>
          </a:prstGeom>
          <a:noFill/>
        </p:spPr>
        <p:txBody>
          <a:bodyPr wrap="square" rtlCol="0">
            <a:spAutoFit/>
          </a:bodyPr>
          <a:lstStyle/>
          <a:p>
            <a:r>
              <a:rPr lang="en-US" sz="4800" b="1" dirty="0" smtClean="0">
                <a:solidFill>
                  <a:srgbClr val="FF0000"/>
                </a:solidFill>
                <a:effectLst>
                  <a:outerShdw blurRad="38100" dist="38100" dir="2700000" algn="tl">
                    <a:srgbClr val="000000">
                      <a:alpha val="43137"/>
                    </a:srgbClr>
                  </a:outerShdw>
                </a:effectLst>
                <a:latin typeface="Gabriola" panose="04040605051002020D02" pitchFamily="82" charset="0"/>
              </a:rPr>
              <a:t>THIS MEANS “ONCE SAVED ALWAYS SAVED” IS WRONG!</a:t>
            </a:r>
            <a:endParaRPr lang="en-US" sz="48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1003940912"/>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0587" y="3811253"/>
            <a:ext cx="10515600" cy="2852737"/>
          </a:xfrm>
        </p:spPr>
        <p:txBody>
          <a:bodyPr>
            <a:normAutofit/>
          </a:bodyPr>
          <a:lstStyle/>
          <a:p>
            <a:r>
              <a:rPr lang="en-US" sz="11500" b="1" dirty="0" smtClean="0">
                <a:solidFill>
                  <a:srgbClr val="FF0000"/>
                </a:solidFill>
                <a:effectLst>
                  <a:outerShdw blurRad="38100" dist="38100" dir="2700000" algn="tl">
                    <a:srgbClr val="000000">
                      <a:alpha val="43137"/>
                    </a:srgbClr>
                  </a:outerShdw>
                </a:effectLst>
                <a:latin typeface="Gabriola" panose="04040605051002020D02" pitchFamily="82" charset="0"/>
              </a:rPr>
              <a:t>THE TIDES</a:t>
            </a:r>
            <a:endParaRPr lang="en-US" sz="115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3114787353"/>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THE TIDES OR CURRENTS THAT WE DRIFT AWAY ON</a:t>
            </a:r>
            <a:endParaRPr lang="en-US" sz="54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
        <p:nvSpPr>
          <p:cNvPr id="3" name="Content Placeholder 2"/>
          <p:cNvSpPr>
            <a:spLocks noGrp="1"/>
          </p:cNvSpPr>
          <p:nvPr>
            <p:ph idx="1"/>
          </p:nvPr>
        </p:nvSpPr>
        <p:spPr>
          <a:xfrm>
            <a:off x="838200" y="1825625"/>
            <a:ext cx="8001000" cy="4351338"/>
          </a:xfrm>
        </p:spPr>
        <p:txBody>
          <a:bodyPr>
            <a:normAutofit/>
          </a:bodyPr>
          <a:lstStyle/>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The tide of  </a:t>
            </a:r>
            <a:r>
              <a:rPr lang="en-US" sz="5400" b="1" u="sng" dirty="0" smtClean="0">
                <a:solidFill>
                  <a:srgbClr val="FF0000"/>
                </a:solidFill>
                <a:effectLst>
                  <a:outerShdw blurRad="38100" dist="38100" dir="2700000" algn="tl">
                    <a:srgbClr val="000000">
                      <a:alpha val="43137"/>
                    </a:srgbClr>
                  </a:outerShdw>
                </a:effectLst>
                <a:latin typeface="Gabriola" panose="04040605051002020D02" pitchFamily="82" charset="0"/>
              </a:rPr>
              <a:t>time</a:t>
            </a:r>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 – Ga</a:t>
            </a:r>
            <a:r>
              <a:rPr lang="en-US" sz="5400" b="1" u="sng" dirty="0" smtClean="0">
                <a:solidFill>
                  <a:srgbClr val="FF0000"/>
                </a:solidFill>
                <a:effectLst>
                  <a:outerShdw blurRad="38100" dist="38100" dir="2700000" algn="tl">
                    <a:srgbClr val="000000">
                      <a:alpha val="43137"/>
                    </a:srgbClr>
                  </a:outerShdw>
                </a:effectLst>
                <a:latin typeface="Gabriola" panose="04040605051002020D02" pitchFamily="82" charset="0"/>
              </a:rPr>
              <a:t>l. 6:9</a:t>
            </a:r>
          </a:p>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The tide of </a:t>
            </a:r>
            <a:r>
              <a:rPr lang="en-US" sz="5400" b="1" u="sng" dirty="0" smtClean="0">
                <a:solidFill>
                  <a:srgbClr val="FF0000"/>
                </a:solidFill>
                <a:effectLst>
                  <a:outerShdw blurRad="38100" dist="38100" dir="2700000" algn="tl">
                    <a:srgbClr val="000000">
                      <a:alpha val="43137"/>
                    </a:srgbClr>
                  </a:outerShdw>
                </a:effectLst>
                <a:latin typeface="Gabriola" panose="04040605051002020D02" pitchFamily="82" charset="0"/>
              </a:rPr>
              <a:t>familiarity </a:t>
            </a:r>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 - Rev. 2:4</a:t>
            </a:r>
          </a:p>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The tide of </a:t>
            </a:r>
            <a:r>
              <a:rPr lang="en-US" sz="5400" b="1" u="sng" dirty="0" smtClean="0">
                <a:solidFill>
                  <a:srgbClr val="FF0000"/>
                </a:solidFill>
                <a:effectLst>
                  <a:outerShdw blurRad="38100" dist="38100" dir="2700000" algn="tl">
                    <a:srgbClr val="000000">
                      <a:alpha val="43137"/>
                    </a:srgbClr>
                  </a:outerShdw>
                </a:effectLst>
                <a:latin typeface="Gabriola" panose="04040605051002020D02" pitchFamily="82" charset="0"/>
              </a:rPr>
              <a:t>society</a:t>
            </a:r>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 – 1 Cor. 15:33</a:t>
            </a:r>
          </a:p>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The tide of </a:t>
            </a:r>
            <a:r>
              <a:rPr lang="en-US" sz="5400" b="1" u="sng" dirty="0" smtClean="0">
                <a:solidFill>
                  <a:srgbClr val="FF0000"/>
                </a:solidFill>
                <a:effectLst>
                  <a:outerShdw blurRad="38100" dist="38100" dir="2700000" algn="tl">
                    <a:srgbClr val="000000">
                      <a:alpha val="43137"/>
                    </a:srgbClr>
                  </a:outerShdw>
                </a:effectLst>
                <a:latin typeface="Gabriola" panose="04040605051002020D02" pitchFamily="82" charset="0"/>
              </a:rPr>
              <a:t>flesh</a:t>
            </a:r>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 – Gal. 5:16-17</a:t>
            </a:r>
          </a:p>
          <a:p>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The tide of </a:t>
            </a:r>
            <a:r>
              <a:rPr lang="en-US" sz="5400" b="1" u="sng" dirty="0" smtClean="0">
                <a:solidFill>
                  <a:srgbClr val="FF0000"/>
                </a:solidFill>
                <a:effectLst>
                  <a:outerShdw blurRad="38100" dist="38100" dir="2700000" algn="tl">
                    <a:srgbClr val="000000">
                      <a:alpha val="43137"/>
                    </a:srgbClr>
                  </a:outerShdw>
                </a:effectLst>
                <a:latin typeface="Gabriola" panose="04040605051002020D02" pitchFamily="82" charset="0"/>
              </a:rPr>
              <a:t>anxiety</a:t>
            </a:r>
            <a:r>
              <a:rPr lang="en-US" sz="5400" b="1" dirty="0" smtClean="0">
                <a:solidFill>
                  <a:srgbClr val="FF0000"/>
                </a:solidFill>
                <a:effectLst>
                  <a:outerShdw blurRad="38100" dist="38100" dir="2700000" algn="tl">
                    <a:srgbClr val="000000">
                      <a:alpha val="43137"/>
                    </a:srgbClr>
                  </a:outerShdw>
                </a:effectLst>
                <a:latin typeface="Gabriola" panose="04040605051002020D02" pitchFamily="82" charset="0"/>
              </a:rPr>
              <a:t> – Luke 21:34</a:t>
            </a:r>
            <a:endParaRPr lang="en-US" sz="5400" b="1" u="sng"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
        <p:nvSpPr>
          <p:cNvPr id="4" name="TextBox 3"/>
          <p:cNvSpPr txBox="1"/>
          <p:nvPr/>
        </p:nvSpPr>
        <p:spPr>
          <a:xfrm>
            <a:off x="8839200" y="3381336"/>
            <a:ext cx="3126960" cy="3477875"/>
          </a:xfrm>
          <a:prstGeom prst="rect">
            <a:avLst/>
          </a:prstGeom>
          <a:noFill/>
        </p:spPr>
        <p:txBody>
          <a:bodyPr vert="horz" wrap="square" rtlCol="0">
            <a:spAutoFit/>
          </a:bodyPr>
          <a:lstStyle/>
          <a:p>
            <a:pPr algn="ctr"/>
            <a:r>
              <a:rPr lang="en-US" sz="4400" b="1" dirty="0" smtClean="0">
                <a:solidFill>
                  <a:srgbClr val="FF0000"/>
                </a:solidFill>
                <a:effectLst>
                  <a:outerShdw blurRad="38100" dist="38100" dir="2700000" algn="tl">
                    <a:srgbClr val="000000">
                      <a:alpha val="43137"/>
                    </a:srgbClr>
                  </a:outerShdw>
                </a:effectLst>
                <a:latin typeface="Gabriola" panose="04040605051002020D02" pitchFamily="82" charset="0"/>
              </a:rPr>
              <a:t>BUT SEEK YE FIRST THE KINGDOM OF GOD  AND HIS RIGHTEOUSNES</a:t>
            </a:r>
            <a:endParaRPr lang="en-US" sz="44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1526055829"/>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39" y="5053263"/>
            <a:ext cx="10515600" cy="1715001"/>
          </a:xfrm>
        </p:spPr>
        <p:txBody>
          <a:bodyPr>
            <a:normAutofit/>
          </a:bodyPr>
          <a:lstStyle/>
          <a:p>
            <a:r>
              <a:rPr lang="en-US" sz="8800" b="1" dirty="0" smtClean="0">
                <a:solidFill>
                  <a:srgbClr val="FF0000"/>
                </a:solidFill>
                <a:effectLst>
                  <a:outerShdw blurRad="38100" dist="38100" dir="2700000" algn="tl">
                    <a:srgbClr val="000000">
                      <a:alpha val="43137"/>
                    </a:srgbClr>
                  </a:outerShdw>
                </a:effectLst>
                <a:latin typeface="Gabriola" panose="04040605051002020D02" pitchFamily="82" charset="0"/>
              </a:rPr>
              <a:t>CORRECTING THE COURSE</a:t>
            </a:r>
            <a:endParaRPr lang="en-US" sz="88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389486004"/>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147" y="0"/>
            <a:ext cx="10515600" cy="1325563"/>
          </a:xfrm>
        </p:spPr>
        <p:txBody>
          <a:bodyPr>
            <a:normAutofit/>
          </a:bodyPr>
          <a:lstStyle/>
          <a:p>
            <a:r>
              <a:rPr lang="en-US" sz="7200" b="1" dirty="0" smtClean="0">
                <a:solidFill>
                  <a:srgbClr val="FF0000"/>
                </a:solidFill>
                <a:effectLst>
                  <a:outerShdw blurRad="38100" dist="38100" dir="2700000" algn="tl">
                    <a:srgbClr val="000000">
                      <a:alpha val="43137"/>
                    </a:srgbClr>
                  </a:outerShdw>
                </a:effectLst>
                <a:latin typeface="Gabriola" panose="04040605051002020D02" pitchFamily="82" charset="0"/>
              </a:rPr>
              <a:t>PREPARING NOT TO DRIFT AWAY</a:t>
            </a:r>
            <a:endParaRPr lang="en-US" sz="72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
        <p:nvSpPr>
          <p:cNvPr id="3" name="Content Placeholder 2"/>
          <p:cNvSpPr>
            <a:spLocks noGrp="1"/>
          </p:cNvSpPr>
          <p:nvPr>
            <p:ph idx="1"/>
          </p:nvPr>
        </p:nvSpPr>
        <p:spPr>
          <a:xfrm>
            <a:off x="838200" y="2374231"/>
            <a:ext cx="10515600" cy="3802731"/>
          </a:xfrm>
        </p:spPr>
        <p:txBody>
          <a:bodyPr>
            <a:normAutofit lnSpcReduction="10000"/>
          </a:bodyPr>
          <a:lstStyle/>
          <a:p>
            <a:r>
              <a:rPr lang="en-US" sz="6600" b="1" dirty="0" smtClean="0">
                <a:solidFill>
                  <a:srgbClr val="FF0000"/>
                </a:solidFill>
                <a:effectLst>
                  <a:outerShdw blurRad="38100" dist="38100" dir="2700000" algn="tl">
                    <a:srgbClr val="000000">
                      <a:alpha val="43137"/>
                    </a:srgbClr>
                  </a:outerShdw>
                </a:effectLst>
                <a:latin typeface="Gabriola" panose="04040605051002020D02" pitchFamily="82" charset="0"/>
              </a:rPr>
              <a:t>Giving </a:t>
            </a:r>
            <a:r>
              <a:rPr lang="en-US" sz="6600" b="1" u="sng" dirty="0" smtClean="0">
                <a:solidFill>
                  <a:srgbClr val="FF0000"/>
                </a:solidFill>
                <a:effectLst>
                  <a:outerShdw blurRad="38100" dist="38100" dir="2700000" algn="tl">
                    <a:srgbClr val="000000">
                      <a:alpha val="43137"/>
                    </a:srgbClr>
                  </a:outerShdw>
                </a:effectLst>
                <a:latin typeface="Gabriola" panose="04040605051002020D02" pitchFamily="82" charset="0"/>
              </a:rPr>
              <a:t>MORE</a:t>
            </a:r>
            <a:r>
              <a:rPr lang="en-US" sz="6600" b="1" dirty="0" smtClean="0">
                <a:solidFill>
                  <a:srgbClr val="FF0000"/>
                </a:solidFill>
                <a:effectLst>
                  <a:outerShdw blurRad="38100" dist="38100" dir="2700000" algn="tl">
                    <a:srgbClr val="000000">
                      <a:alpha val="43137"/>
                    </a:srgbClr>
                  </a:outerShdw>
                </a:effectLst>
                <a:latin typeface="Gabriola" panose="04040605051002020D02" pitchFamily="82" charset="0"/>
              </a:rPr>
              <a:t> heed and </a:t>
            </a:r>
            <a:r>
              <a:rPr lang="en-US" sz="6600" b="1" u="sng" dirty="0" smtClean="0">
                <a:solidFill>
                  <a:srgbClr val="FF0000"/>
                </a:solidFill>
                <a:effectLst>
                  <a:outerShdw blurRad="38100" dist="38100" dir="2700000" algn="tl">
                    <a:srgbClr val="000000">
                      <a:alpha val="43137"/>
                    </a:srgbClr>
                  </a:outerShdw>
                </a:effectLst>
                <a:latin typeface="Gabriola" panose="04040605051002020D02" pitchFamily="82" charset="0"/>
              </a:rPr>
              <a:t>EARNEST</a:t>
            </a:r>
            <a:r>
              <a:rPr lang="en-US" sz="6600" b="1" dirty="0" smtClean="0">
                <a:solidFill>
                  <a:srgbClr val="FF0000"/>
                </a:solidFill>
                <a:effectLst>
                  <a:outerShdw blurRad="38100" dist="38100" dir="2700000" algn="tl">
                    <a:srgbClr val="000000">
                      <a:alpha val="43137"/>
                    </a:srgbClr>
                  </a:outerShdw>
                </a:effectLst>
                <a:latin typeface="Gabriola" panose="04040605051002020D02" pitchFamily="82" charset="0"/>
              </a:rPr>
              <a:t> heed – 2 Pet. 1:10</a:t>
            </a:r>
          </a:p>
          <a:p>
            <a:r>
              <a:rPr lang="en-US" sz="6600" b="1" dirty="0" smtClean="0">
                <a:solidFill>
                  <a:srgbClr val="FF0000"/>
                </a:solidFill>
                <a:effectLst>
                  <a:outerShdw blurRad="38100" dist="38100" dir="2700000" algn="tl">
                    <a:srgbClr val="000000">
                      <a:alpha val="43137"/>
                    </a:srgbClr>
                  </a:outerShdw>
                </a:effectLst>
                <a:latin typeface="Gabriola" panose="04040605051002020D02" pitchFamily="82" charset="0"/>
              </a:rPr>
              <a:t>To the </a:t>
            </a:r>
            <a:r>
              <a:rPr lang="en-US" sz="6600" b="1" u="sng" dirty="0" smtClean="0">
                <a:solidFill>
                  <a:srgbClr val="FF0000"/>
                </a:solidFill>
                <a:effectLst>
                  <a:outerShdw blurRad="38100" dist="38100" dir="2700000" algn="tl">
                    <a:srgbClr val="000000">
                      <a:alpha val="43137"/>
                    </a:srgbClr>
                  </a:outerShdw>
                </a:effectLst>
                <a:latin typeface="Gabriola" panose="04040605051002020D02" pitchFamily="82" charset="0"/>
              </a:rPr>
              <a:t>TEACHINGS</a:t>
            </a:r>
            <a:r>
              <a:rPr lang="en-US" sz="6600" b="1" dirty="0" smtClean="0">
                <a:solidFill>
                  <a:srgbClr val="FF0000"/>
                </a:solidFill>
                <a:effectLst>
                  <a:outerShdw blurRad="38100" dist="38100" dir="2700000" algn="tl">
                    <a:srgbClr val="000000">
                      <a:alpha val="43137"/>
                    </a:srgbClr>
                  </a:outerShdw>
                </a:effectLst>
                <a:latin typeface="Gabriola" panose="04040605051002020D02" pitchFamily="82" charset="0"/>
              </a:rPr>
              <a:t> we have </a:t>
            </a:r>
            <a:r>
              <a:rPr lang="en-US" sz="6600" b="1" u="sng" dirty="0" smtClean="0">
                <a:solidFill>
                  <a:srgbClr val="FF0000"/>
                </a:solidFill>
                <a:effectLst>
                  <a:outerShdw blurRad="38100" dist="38100" dir="2700000" algn="tl">
                    <a:srgbClr val="000000">
                      <a:alpha val="43137"/>
                    </a:srgbClr>
                  </a:outerShdw>
                </a:effectLst>
                <a:latin typeface="Gabriola" panose="04040605051002020D02" pitchFamily="82" charset="0"/>
              </a:rPr>
              <a:t>HEARD</a:t>
            </a:r>
            <a:r>
              <a:rPr lang="en-US" sz="6600" b="1" dirty="0" smtClean="0">
                <a:solidFill>
                  <a:srgbClr val="FF0000"/>
                </a:solidFill>
                <a:effectLst>
                  <a:outerShdw blurRad="38100" dist="38100" dir="2700000" algn="tl">
                    <a:srgbClr val="000000">
                      <a:alpha val="43137"/>
                    </a:srgbClr>
                  </a:outerShdw>
                </a:effectLst>
                <a:latin typeface="Gabriola" panose="04040605051002020D02" pitchFamily="82" charset="0"/>
              </a:rPr>
              <a:t> – Acts 17:11</a:t>
            </a:r>
            <a:endParaRPr lang="en-US" sz="6600" b="1" u="sng" dirty="0" smtClean="0">
              <a:solidFill>
                <a:srgbClr val="FF0000"/>
              </a:solidFill>
              <a:effectLst>
                <a:outerShdw blurRad="38100" dist="38100" dir="2700000" algn="tl">
                  <a:srgbClr val="000000">
                    <a:alpha val="43137"/>
                  </a:srgbClr>
                </a:outerShdw>
              </a:effectLst>
              <a:latin typeface="Gabriola" panose="04040605051002020D02" pitchFamily="82" charset="0"/>
            </a:endParaRPr>
          </a:p>
          <a:p>
            <a:pPr marL="0" indent="0">
              <a:buNone/>
            </a:pPr>
            <a:endParaRPr lang="en-US" sz="4400" b="1" dirty="0" smtClean="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2205397068"/>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74567" y="457200"/>
            <a:ext cx="3932237" cy="762000"/>
          </a:xfrm>
        </p:spPr>
        <p:txBody>
          <a:bodyPr>
            <a:noAutofit/>
          </a:bodyPr>
          <a:lstStyle/>
          <a:p>
            <a:r>
              <a:rPr lang="en-US" sz="8800" b="1" dirty="0" smtClean="0">
                <a:solidFill>
                  <a:srgbClr val="FF0000"/>
                </a:solidFill>
                <a:effectLst>
                  <a:outerShdw blurRad="38100" dist="38100" dir="2700000" algn="tl">
                    <a:srgbClr val="000000">
                      <a:alpha val="43137"/>
                    </a:srgbClr>
                  </a:outerShdw>
                </a:effectLst>
                <a:latin typeface="Gabriola" panose="04040605051002020D02" pitchFamily="82" charset="0"/>
              </a:rPr>
              <a:t>CLOSING</a:t>
            </a:r>
            <a:endParaRPr lang="en-US" sz="8800"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pic>
        <p:nvPicPr>
          <p:cNvPr id="9" name="Picture Placeholder 8"/>
          <p:cNvPicPr>
            <a:picLocks noGrp="1" noChangeAspect="1"/>
          </p:cNvPicPr>
          <p:nvPr>
            <p:ph type="pic" idx="1"/>
          </p:nvPr>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l="2508" r="2508"/>
          <a:stretch>
            <a:fillRect/>
          </a:stretch>
        </p:blipFill>
        <p:spPr>
          <a:xfrm>
            <a:off x="5183188" y="457200"/>
            <a:ext cx="6172200" cy="5911515"/>
          </a:xfrm>
          <a:effectLst>
            <a:softEdge rad="635000"/>
          </a:effectLst>
        </p:spPr>
      </p:pic>
      <p:sp>
        <p:nvSpPr>
          <p:cNvPr id="7" name="Text Placeholder 6"/>
          <p:cNvSpPr>
            <a:spLocks noGrp="1"/>
          </p:cNvSpPr>
          <p:nvPr>
            <p:ph type="body" sz="half" idx="2"/>
          </p:nvPr>
        </p:nvSpPr>
        <p:spPr>
          <a:xfrm>
            <a:off x="137694" y="1046747"/>
            <a:ext cx="5045493" cy="5610727"/>
          </a:xfrm>
        </p:spPr>
        <p:txBody>
          <a:bodyPr>
            <a:noAutofit/>
          </a:bodyPr>
          <a:lstStyle/>
          <a:p>
            <a:pPr algn="just"/>
            <a:r>
              <a:rPr lang="en-US" sz="4400" b="1" dirty="0" smtClean="0">
                <a:solidFill>
                  <a:srgbClr val="FF0000"/>
                </a:solidFill>
                <a:effectLst>
                  <a:outerShdw blurRad="38100" dist="38100" dir="2700000" algn="tl">
                    <a:srgbClr val="000000">
                      <a:alpha val="43137"/>
                    </a:srgbClr>
                  </a:outerShdw>
                </a:effectLst>
                <a:latin typeface="Gabriola" panose="04040605051002020D02" pitchFamily="82" charset="0"/>
              </a:rPr>
              <a:t>HEAR the word of God and BELIEVE that Jesus is the Messiah. CONFESS that you will follow and serve Him as your Lord. REPENT of the life of sin that He has set you free from and be BAPTIZED into Christ entering His Kingdom.</a:t>
            </a:r>
          </a:p>
          <a:p>
            <a:endParaRPr lang="en-US" b="1" dirty="0">
              <a:solidFill>
                <a:srgbClr val="FF0000"/>
              </a:solidFill>
              <a:effectLst>
                <a:outerShdw blurRad="38100" dist="38100" dir="2700000" algn="tl">
                  <a:srgbClr val="000000">
                    <a:alpha val="43137"/>
                  </a:srgbClr>
                </a:outerShdw>
              </a:effectLst>
              <a:latin typeface="Gabriola" panose="04040605051002020D02" pitchFamily="82" charset="0"/>
            </a:endParaRPr>
          </a:p>
        </p:txBody>
      </p:sp>
    </p:spTree>
    <p:extLst>
      <p:ext uri="{BB962C8B-B14F-4D97-AF65-F5344CB8AC3E}">
        <p14:creationId xmlns:p14="http://schemas.microsoft.com/office/powerpoint/2010/main" val="394243924"/>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TotalTime>
  <Words>233</Words>
  <Application>Microsoft Office PowerPoint</Application>
  <PresentationFormat>Widescreen</PresentationFormat>
  <Paragraphs>27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Aharoni</vt:lpstr>
      <vt:lpstr>Arial</vt:lpstr>
      <vt:lpstr>Calibri</vt:lpstr>
      <vt:lpstr>Calibri Light</vt:lpstr>
      <vt:lpstr>Gabriola</vt:lpstr>
      <vt:lpstr>Office Theme</vt:lpstr>
      <vt:lpstr>PowerPoint Presentation</vt:lpstr>
      <vt:lpstr>DRIFITING AWAY</vt:lpstr>
      <vt:lpstr>INTRODUCTION</vt:lpstr>
      <vt:lpstr>THE EXHORTATION</vt:lpstr>
      <vt:lpstr>“DRIFTING AWAY” MEANS ONE CAN BE SEPARATED/LOST FROM CHRIST AND SALVATION </vt:lpstr>
      <vt:lpstr>THE TIDES</vt:lpstr>
      <vt:lpstr>THE TIDES OR CURRENTS THAT WE DRIFT AWAY ON</vt:lpstr>
      <vt:lpstr>CORRECTING THE COURSE</vt:lpstr>
      <vt:lpstr>PREPARING NOT TO DRIFT AWAY</vt:lpstr>
      <vt:lpstr>CLOSING</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derek dodd</dc:creator>
  <cp:lastModifiedBy>derek dodd</cp:lastModifiedBy>
  <cp:revision>9</cp:revision>
  <dcterms:created xsi:type="dcterms:W3CDTF">2014-02-13T17:45:19Z</dcterms:created>
  <dcterms:modified xsi:type="dcterms:W3CDTF">2014-02-13T20:30:50Z</dcterms:modified>
</cp:coreProperties>
</file>