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134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9BF1CF-226A-47CC-B60D-88E886A26F77}"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94843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BF1CF-226A-47CC-B60D-88E886A26F77}"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10832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9BF1CF-226A-47CC-B60D-88E886A26F77}"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402275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A9BF1CF-226A-47CC-B60D-88E886A26F77}"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2403520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A9BF1CF-226A-47CC-B60D-88E886A26F77}" type="datetimeFigureOut">
              <a:rPr lang="en-US" smtClean="0"/>
              <a:t>2/20/2014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99318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A9BF1CF-226A-47CC-B60D-88E886A26F77}" type="datetimeFigureOut">
              <a:rPr lang="en-US" smtClean="0"/>
              <a:t>2/20/2014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500750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BF1CF-226A-47CC-B60D-88E886A26F77}" type="datetimeFigureOut">
              <a:rPr lang="en-US" smtClean="0"/>
              <a:t>2/20/2014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412269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9BF1CF-226A-47CC-B60D-88E886A26F77}"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3146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9BF1CF-226A-47CC-B60D-88E886A26F77}" type="datetimeFigureOut">
              <a:rPr lang="en-US" smtClean="0"/>
              <a:t>2/20/2014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27899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BF1CF-226A-47CC-B60D-88E886A26F77}"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125398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BF1CF-226A-47CC-B60D-88E886A26F77}" type="datetimeFigureOut">
              <a:rPr lang="en-US" smtClean="0"/>
              <a:t>2/20/2014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4EA1E4-87D8-446E-9661-25166736D3FF}" type="slidenum">
              <a:rPr lang="en-US" smtClean="0"/>
              <a:t>‹#›</a:t>
            </a:fld>
            <a:endParaRPr lang="en-US"/>
          </a:p>
        </p:txBody>
      </p:sp>
    </p:spTree>
    <p:extLst>
      <p:ext uri="{BB962C8B-B14F-4D97-AF65-F5344CB8AC3E}">
        <p14:creationId xmlns:p14="http://schemas.microsoft.com/office/powerpoint/2010/main" val="3184777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BF1CF-226A-47CC-B60D-88E886A26F77}" type="datetimeFigureOut">
              <a:rPr lang="en-US" smtClean="0"/>
              <a:t>2/20/2014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4EA1E4-87D8-446E-9661-25166736D3FF}" type="slidenum">
              <a:rPr lang="en-US" smtClean="0"/>
              <a:t>‹#›</a:t>
            </a:fld>
            <a:endParaRPr lang="en-US"/>
          </a:p>
        </p:txBody>
      </p:sp>
    </p:spTree>
    <p:extLst>
      <p:ext uri="{BB962C8B-B14F-4D97-AF65-F5344CB8AC3E}">
        <p14:creationId xmlns:p14="http://schemas.microsoft.com/office/powerpoint/2010/main" val="2255683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47118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latin typeface="Papyrus" panose="03070502060502030205" pitchFamily="66" charset="0"/>
              </a:rPr>
              <a:t>Jesus Superior Humanity</a:t>
            </a:r>
            <a:endParaRPr lang="en-US" b="1" dirty="0">
              <a:effectLst>
                <a:outerShdw blurRad="38100" dist="38100" dir="2700000" algn="tl">
                  <a:srgbClr val="000000">
                    <a:alpha val="43137"/>
                  </a:srgbClr>
                </a:outerShdw>
              </a:effectLst>
              <a:latin typeface="Papyrus" panose="03070502060502030205" pitchFamily="66" charset="0"/>
            </a:endParaRPr>
          </a:p>
        </p:txBody>
      </p:sp>
      <p:sp>
        <p:nvSpPr>
          <p:cNvPr id="3" name="Subtitle 2"/>
          <p:cNvSpPr>
            <a:spLocks noGrp="1"/>
          </p:cNvSpPr>
          <p:nvPr>
            <p:ph type="subTitle" idx="1"/>
          </p:nvPr>
        </p:nvSpPr>
        <p:spPr/>
        <p:txBody>
          <a:bodyPr/>
          <a:lstStyle/>
          <a:p>
            <a:r>
              <a:rPr lang="en-US" b="1" dirty="0" smtClean="0">
                <a:solidFill>
                  <a:schemeClr val="tx1"/>
                </a:solidFill>
                <a:effectLst>
                  <a:outerShdw blurRad="38100" dist="38100" dir="2700000" algn="tl">
                    <a:srgbClr val="000000">
                      <a:alpha val="43137"/>
                    </a:srgbClr>
                  </a:outerShdw>
                </a:effectLst>
                <a:latin typeface="Papyrus" panose="03070502060502030205" pitchFamily="66" charset="0"/>
              </a:rPr>
              <a:t>Hebrews 2:5-18</a:t>
            </a:r>
            <a:endParaRPr lang="en-US" b="1" dirty="0">
              <a:solidFill>
                <a:schemeClr val="tx1"/>
              </a:solidFill>
              <a:effectLst>
                <a:outerShdw blurRad="38100" dist="38100" dir="2700000" algn="tl">
                  <a:srgbClr val="000000">
                    <a:alpha val="43137"/>
                  </a:srgbClr>
                </a:outerShdw>
              </a:effectLst>
              <a:latin typeface="Papyrus" panose="03070502060502030205" pitchFamily="66" charset="0"/>
            </a:endParaRPr>
          </a:p>
        </p:txBody>
      </p:sp>
    </p:spTree>
    <p:extLst>
      <p:ext uri="{BB962C8B-B14F-4D97-AF65-F5344CB8AC3E}">
        <p14:creationId xmlns:p14="http://schemas.microsoft.com/office/powerpoint/2010/main" val="388862668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latin typeface="Papyrus" panose="03070502060502030205" pitchFamily="66" charset="0"/>
              </a:rPr>
              <a:t>INTRODUCTION</a:t>
            </a:r>
            <a:endParaRPr lang="en-US" b="1" dirty="0">
              <a:effectLst>
                <a:outerShdw blurRad="38100" dist="38100" dir="2700000" algn="tl">
                  <a:srgbClr val="000000">
                    <a:alpha val="43137"/>
                  </a:srgbClr>
                </a:outerShdw>
              </a:effectLst>
              <a:latin typeface="Papyrus" panose="03070502060502030205" pitchFamily="66" charset="0"/>
            </a:endParaRPr>
          </a:p>
        </p:txBody>
      </p:sp>
      <p:sp>
        <p:nvSpPr>
          <p:cNvPr id="3" name="Content Placeholder 2"/>
          <p:cNvSpPr>
            <a:spLocks noGrp="1"/>
          </p:cNvSpPr>
          <p:nvPr>
            <p:ph idx="1"/>
          </p:nvPr>
        </p:nvSpPr>
        <p:spPr/>
        <p:txBody>
          <a:bodyPr>
            <a:normAutofit lnSpcReduction="10000"/>
          </a:bodyPr>
          <a:lstStyle/>
          <a:p>
            <a:r>
              <a:rPr lang="en-US" b="1" dirty="0" smtClean="0">
                <a:effectLst>
                  <a:outerShdw blurRad="38100" dist="38100" dir="2700000" algn="tl">
                    <a:srgbClr val="000000">
                      <a:alpha val="43137"/>
                    </a:srgbClr>
                  </a:outerShdw>
                </a:effectLst>
              </a:rPr>
              <a:t>Chapter one showed the deity of Christ</a:t>
            </a:r>
          </a:p>
          <a:p>
            <a:r>
              <a:rPr lang="en-US" b="1" dirty="0" smtClean="0">
                <a:effectLst>
                  <a:outerShdw blurRad="38100" dist="38100" dir="2700000" algn="tl">
                    <a:srgbClr val="000000">
                      <a:alpha val="43137"/>
                    </a:srgbClr>
                  </a:outerShdw>
                </a:effectLst>
              </a:rPr>
              <a:t>Chapter  two shows the humanity of Christ</a:t>
            </a:r>
          </a:p>
          <a:p>
            <a:r>
              <a:rPr lang="en-US" b="1" dirty="0" smtClean="0">
                <a:effectLst>
                  <a:outerShdw blurRad="38100" dist="38100" dir="2700000" algn="tl">
                    <a:srgbClr val="000000">
                      <a:alpha val="43137"/>
                    </a:srgbClr>
                  </a:outerShdw>
                </a:effectLst>
              </a:rPr>
              <a:t>Even being made lower than the angels He was superior to them because of what He would do as a human.</a:t>
            </a:r>
          </a:p>
          <a:p>
            <a:pPr lvl="1"/>
            <a:r>
              <a:rPr lang="en-US" b="1" dirty="0" smtClean="0">
                <a:effectLst>
                  <a:outerShdw blurRad="38100" dist="38100" dir="2700000" algn="tl">
                    <a:srgbClr val="000000">
                      <a:alpha val="43137"/>
                    </a:srgbClr>
                  </a:outerShdw>
                </a:effectLst>
              </a:rPr>
              <a:t>Like regain man from a lost dominion</a:t>
            </a:r>
          </a:p>
          <a:p>
            <a:pPr lvl="1"/>
            <a:r>
              <a:rPr lang="en-US" b="1" dirty="0" smtClean="0">
                <a:effectLst>
                  <a:outerShdw blurRad="38100" dist="38100" dir="2700000" algn="tl">
                    <a:srgbClr val="000000">
                      <a:alpha val="43137"/>
                    </a:srgbClr>
                  </a:outerShdw>
                </a:effectLst>
              </a:rPr>
              <a:t>Like bring sons to the Father</a:t>
            </a:r>
          </a:p>
          <a:p>
            <a:pPr lvl="1"/>
            <a:r>
              <a:rPr lang="en-US" b="1" dirty="0" smtClean="0">
                <a:effectLst>
                  <a:outerShdw blurRad="38100" dist="38100" dir="2700000" algn="tl">
                    <a:srgbClr val="000000">
                      <a:alpha val="43137"/>
                    </a:srgbClr>
                  </a:outerShdw>
                </a:effectLst>
              </a:rPr>
              <a:t>Like concurring death’s power</a:t>
            </a:r>
          </a:p>
          <a:p>
            <a:pPr lvl="1"/>
            <a:r>
              <a:rPr lang="en-US" b="1" dirty="0" smtClean="0">
                <a:effectLst>
                  <a:outerShdw blurRad="38100" dist="38100" dir="2700000" algn="tl">
                    <a:srgbClr val="000000">
                      <a:alpha val="43137"/>
                    </a:srgbClr>
                  </a:outerShdw>
                </a:effectLst>
              </a:rPr>
              <a:t>Like being the sympathetic high priest</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0637904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Regaining man from a lost dominion(5-9)</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effectLst>
                  <a:outerShdw blurRad="38100" dist="38100" dir="2700000" algn="tl">
                    <a:srgbClr val="000000">
                      <a:alpha val="43137"/>
                    </a:srgbClr>
                  </a:outerShdw>
                </a:effectLst>
              </a:rPr>
              <a:t>Man’s dominion in the beginning (Gen 1:26-28)</a:t>
            </a:r>
          </a:p>
          <a:p>
            <a:r>
              <a:rPr lang="en-US" dirty="0" smtClean="0">
                <a:effectLst>
                  <a:outerShdw blurRad="38100" dist="38100" dir="2700000" algn="tl">
                    <a:srgbClr val="000000">
                      <a:alpha val="43137"/>
                    </a:srgbClr>
                  </a:outerShdw>
                </a:effectLst>
              </a:rPr>
              <a:t>Man was lower than the angels (Psa 8:4-6)</a:t>
            </a:r>
          </a:p>
          <a:p>
            <a:r>
              <a:rPr lang="en-US" dirty="0" smtClean="0">
                <a:effectLst>
                  <a:outerShdw blurRad="38100" dist="38100" dir="2700000" algn="tl">
                    <a:srgbClr val="000000">
                      <a:alpha val="43137"/>
                    </a:srgbClr>
                  </a:outerShdw>
                </a:effectLst>
              </a:rPr>
              <a:t>Man lost his dominion (Heb 2:8)</a:t>
            </a:r>
          </a:p>
          <a:p>
            <a:r>
              <a:rPr lang="en-US" dirty="0" smtClean="0">
                <a:effectLst>
                  <a:outerShdw blurRad="38100" dist="38100" dir="2700000" algn="tl">
                    <a:srgbClr val="000000">
                      <a:alpha val="43137"/>
                    </a:srgbClr>
                  </a:outerShdw>
                </a:effectLst>
              </a:rPr>
              <a:t>Jesus regained that dominion as a man!</a:t>
            </a:r>
          </a:p>
          <a:p>
            <a:r>
              <a:rPr lang="en-US" dirty="0" smtClean="0">
                <a:effectLst>
                  <a:outerShdw blurRad="38100" dist="38100" dir="2700000" algn="tl">
                    <a:srgbClr val="000000">
                      <a:alpha val="43137"/>
                    </a:srgbClr>
                  </a:outerShdw>
                </a:effectLst>
              </a:rPr>
              <a:t>So we can now reign with Him (Eph 1:20-22; 2:4-6; Jn 15)</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7793468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Bringing sons to the Father (10-13)</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effectLst>
                  <a:outerShdw blurRad="38100" dist="38100" dir="2700000" algn="tl">
                    <a:srgbClr val="000000">
                      <a:alpha val="43137"/>
                    </a:srgbClr>
                  </a:outerShdw>
                </a:effectLst>
              </a:rPr>
              <a:t>It was “fitting” for Him to suffer as the sacrifice</a:t>
            </a:r>
          </a:p>
          <a:p>
            <a:pPr lvl="1"/>
            <a:r>
              <a:rPr lang="en-US" dirty="0" smtClean="0">
                <a:effectLst>
                  <a:outerShdw blurRad="38100" dist="38100" dir="2700000" algn="tl">
                    <a:srgbClr val="000000">
                      <a:alpha val="43137"/>
                    </a:srgbClr>
                  </a:outerShdw>
                </a:effectLst>
              </a:rPr>
              <a:t>God gave Him the task of bringing man back to the glory and dominion we once had</a:t>
            </a:r>
          </a:p>
          <a:p>
            <a:pPr lvl="1"/>
            <a:r>
              <a:rPr lang="en-US" dirty="0" smtClean="0">
                <a:effectLst>
                  <a:outerShdw blurRad="38100" dist="38100" dir="2700000" algn="tl">
                    <a:srgbClr val="000000">
                      <a:alpha val="43137"/>
                    </a:srgbClr>
                  </a:outerShdw>
                </a:effectLst>
              </a:rPr>
              <a:t>Through suffering He was perfect (18)</a:t>
            </a:r>
          </a:p>
          <a:p>
            <a:r>
              <a:rPr lang="en-US" dirty="0" smtClean="0">
                <a:effectLst>
                  <a:outerShdw blurRad="38100" dist="38100" dir="2700000" algn="tl">
                    <a:srgbClr val="000000">
                      <a:alpha val="43137"/>
                    </a:srgbClr>
                  </a:outerShdw>
                </a:effectLst>
              </a:rPr>
              <a:t>Being human made Him share in humanity</a:t>
            </a:r>
          </a:p>
          <a:p>
            <a:pPr lvl="1"/>
            <a:r>
              <a:rPr lang="en-US" dirty="0" smtClean="0">
                <a:effectLst>
                  <a:outerShdw blurRad="38100" dist="38100" dir="2700000" algn="tl">
                    <a:srgbClr val="000000">
                      <a:alpha val="43137"/>
                    </a:srgbClr>
                  </a:outerShdw>
                </a:effectLst>
              </a:rPr>
              <a:t>He sanctified, we are being sanctified, but we both serve the Father</a:t>
            </a:r>
          </a:p>
          <a:p>
            <a:pPr lvl="1"/>
            <a:r>
              <a:rPr lang="en-US" dirty="0" smtClean="0">
                <a:effectLst>
                  <a:outerShdw blurRad="38100" dist="38100" dir="2700000" algn="tl">
                    <a:srgbClr val="000000">
                      <a:alpha val="43137"/>
                    </a:srgbClr>
                  </a:outerShdw>
                </a:effectLst>
              </a:rPr>
              <a:t>So Jesus calls us brothers</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6667035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Concurring death’s power (14-16)</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effectLst>
                  <a:outerShdw blurRad="38100" dist="38100" dir="2700000" algn="tl">
                    <a:srgbClr val="000000">
                      <a:alpha val="43137"/>
                    </a:srgbClr>
                  </a:outerShdw>
                </a:effectLst>
              </a:rPr>
              <a:t>Jesus’ victory over death by the Resurrection gave Him the keys to death (Rev 1:18)</a:t>
            </a:r>
          </a:p>
          <a:p>
            <a:r>
              <a:rPr lang="en-US" dirty="0" smtClean="0">
                <a:effectLst>
                  <a:outerShdw blurRad="38100" dist="38100" dir="2700000" algn="tl">
                    <a:srgbClr val="000000">
                      <a:alpha val="43137"/>
                    </a:srgbClr>
                  </a:outerShdw>
                </a:effectLst>
              </a:rPr>
              <a:t>Jesus’ victory over death gives man freedom from fear of it (Rom 8:37-39; Phil 2:21)</a:t>
            </a:r>
          </a:p>
          <a:p>
            <a:r>
              <a:rPr lang="en-US" dirty="0" smtClean="0">
                <a:effectLst>
                  <a:outerShdw blurRad="38100" dist="38100" dir="2700000" algn="tl">
                    <a:srgbClr val="000000">
                      <a:alpha val="43137"/>
                    </a:srgbClr>
                  </a:outerShdw>
                </a:effectLst>
              </a:rPr>
              <a:t>This was given to man and not the angels (Gal 3:29; Heb 2:16)</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6504455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Being the sympathetic high priest (17-18)</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smtClean="0">
                <a:effectLst>
                  <a:outerShdw blurRad="38100" dist="38100" dir="2700000" algn="tl">
                    <a:srgbClr val="000000">
                      <a:alpha val="43137"/>
                    </a:srgbClr>
                  </a:outerShdw>
                </a:effectLst>
              </a:rPr>
              <a:t>Merciful and faithful high priest</a:t>
            </a:r>
          </a:p>
          <a:p>
            <a:pPr lvl="1"/>
            <a:r>
              <a:rPr lang="en-US" dirty="0" smtClean="0">
                <a:effectLst>
                  <a:outerShdw blurRad="38100" dist="38100" dir="2700000" algn="tl">
                    <a:srgbClr val="000000">
                      <a:alpha val="43137"/>
                    </a:srgbClr>
                  </a:outerShdw>
                </a:effectLst>
              </a:rPr>
              <a:t>In all things to man He is His mercy</a:t>
            </a:r>
          </a:p>
          <a:p>
            <a:pPr lvl="1"/>
            <a:r>
              <a:rPr lang="en-US" dirty="0" smtClean="0">
                <a:effectLst>
                  <a:outerShdw blurRad="38100" dist="38100" dir="2700000" algn="tl">
                    <a:srgbClr val="000000">
                      <a:alpha val="43137"/>
                    </a:srgbClr>
                  </a:outerShdw>
                </a:effectLst>
              </a:rPr>
              <a:t>In all things to God is His </a:t>
            </a:r>
            <a:r>
              <a:rPr lang="en-US" dirty="0" err="1" smtClean="0">
                <a:effectLst>
                  <a:outerShdw blurRad="38100" dist="38100" dir="2700000" algn="tl">
                    <a:srgbClr val="000000">
                      <a:alpha val="43137"/>
                    </a:srgbClr>
                  </a:outerShdw>
                </a:effectLst>
              </a:rPr>
              <a:t>Fatihfulness</a:t>
            </a:r>
            <a:r>
              <a:rPr lang="en-US" dirty="0" smtClean="0">
                <a:effectLst>
                  <a:outerShdw blurRad="38100" dist="38100" dir="2700000" algn="tl">
                    <a:srgbClr val="000000">
                      <a:alpha val="43137"/>
                    </a:srgbClr>
                  </a:outerShdw>
                </a:effectLst>
              </a:rPr>
              <a:t> </a:t>
            </a:r>
          </a:p>
          <a:p>
            <a:pPr lvl="1"/>
            <a:r>
              <a:rPr lang="en-US" dirty="0" smtClean="0">
                <a:effectLst>
                  <a:outerShdw blurRad="38100" dist="38100" dir="2700000" algn="tl">
                    <a:srgbClr val="000000">
                      <a:alpha val="43137"/>
                    </a:srgbClr>
                  </a:outerShdw>
                </a:effectLst>
              </a:rPr>
              <a:t>The job of the high priest is to offer gifts and sacrifices for sin (5:1)</a:t>
            </a:r>
          </a:p>
          <a:p>
            <a:r>
              <a:rPr lang="en-US" dirty="0" smtClean="0">
                <a:effectLst>
                  <a:outerShdw blurRad="38100" dist="38100" dir="2700000" algn="tl">
                    <a:srgbClr val="000000">
                      <a:alpha val="43137"/>
                    </a:srgbClr>
                  </a:outerShdw>
                </a:effectLst>
              </a:rPr>
              <a:t>Companionate and Comparing</a:t>
            </a:r>
          </a:p>
          <a:p>
            <a:pPr lvl="1"/>
            <a:r>
              <a:rPr lang="en-US" dirty="0" smtClean="0">
                <a:effectLst>
                  <a:outerShdw blurRad="38100" dist="38100" dir="2700000" algn="tl">
                    <a:srgbClr val="000000">
                      <a:alpha val="43137"/>
                    </a:srgbClr>
                  </a:outerShdw>
                </a:effectLst>
              </a:rPr>
              <a:t>He was tempted, He suffered, and He died</a:t>
            </a:r>
          </a:p>
          <a:p>
            <a:pPr lvl="1"/>
            <a:r>
              <a:rPr lang="en-US" dirty="0" smtClean="0">
                <a:effectLst>
                  <a:outerShdw blurRad="38100" dist="38100" dir="2700000" algn="tl">
                    <a:srgbClr val="000000">
                      <a:alpha val="43137"/>
                    </a:srgbClr>
                  </a:outerShdw>
                </a:effectLst>
              </a:rPr>
              <a:t>He was without sin, suffered beyond what we will, and died the worse human death possible (4:15; 5:2; 4:16</a:t>
            </a:r>
          </a:p>
        </p:txBody>
      </p:sp>
    </p:spTree>
    <p:extLst>
      <p:ext uri="{BB962C8B-B14F-4D97-AF65-F5344CB8AC3E}">
        <p14:creationId xmlns:p14="http://schemas.microsoft.com/office/powerpoint/2010/main" val="314047124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0200" y="1066800"/>
            <a:ext cx="3429000" cy="1162050"/>
          </a:xfrm>
        </p:spPr>
        <p:txBody>
          <a:bodyPr>
            <a:normAutofit fontScale="90000"/>
          </a:bodyPr>
          <a:lstStyle/>
          <a:p>
            <a:r>
              <a:rPr lang="en-US" sz="4400" dirty="0" smtClean="0">
                <a:effectLst>
                  <a:outerShdw blurRad="38100" dist="38100" dir="2700000" algn="tl">
                    <a:srgbClr val="000000">
                      <a:alpha val="43137"/>
                    </a:srgbClr>
                  </a:outerShdw>
                </a:effectLst>
              </a:rPr>
              <a:t>CLOSING</a:t>
            </a:r>
            <a:endParaRPr lang="en-US" sz="4400" dirty="0">
              <a:effectLst>
                <a:outerShdw blurRad="38100" dist="38100" dir="2700000" algn="tl">
                  <a:srgbClr val="000000">
                    <a:alpha val="43137"/>
                  </a:srgbClr>
                </a:outerShdw>
              </a:effectLst>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81000"/>
            <a:ext cx="4673600" cy="3352800"/>
          </a:xfrm>
        </p:spPr>
      </p:pic>
      <p:sp>
        <p:nvSpPr>
          <p:cNvPr id="4" name="Text Placeholder 3"/>
          <p:cNvSpPr>
            <a:spLocks noGrp="1"/>
          </p:cNvSpPr>
          <p:nvPr>
            <p:ph type="body" sz="half" idx="2"/>
          </p:nvPr>
        </p:nvSpPr>
        <p:spPr>
          <a:xfrm>
            <a:off x="533400" y="3733800"/>
            <a:ext cx="8189913" cy="2819400"/>
          </a:xfrm>
        </p:spPr>
        <p:txBody>
          <a:bodyPr>
            <a:normAutofit lnSpcReduction="10000"/>
          </a:bodyPr>
          <a:lstStyle/>
          <a:p>
            <a:r>
              <a:rPr lang="en-US" sz="3200" dirty="0" smtClean="0">
                <a:effectLst>
                  <a:outerShdw blurRad="38100" dist="38100" dir="2700000" algn="tl">
                    <a:srgbClr val="000000">
                      <a:alpha val="43137"/>
                    </a:srgbClr>
                  </a:outerShdw>
                </a:effectLst>
              </a:rPr>
              <a:t>HEAR the word of God and BELIEVE that Jesus is the Messiah. CONFESS that you will follow and serve Him as your Lord. REPENT of the life of sin that He has set you free from and be BAPTIZED into Christ entering His Kingdom.</a:t>
            </a:r>
          </a:p>
          <a:p>
            <a:endParaRPr lang="en-US" dirty="0"/>
          </a:p>
        </p:txBody>
      </p:sp>
    </p:spTree>
    <p:extLst>
      <p:ext uri="{BB962C8B-B14F-4D97-AF65-F5344CB8AC3E}">
        <p14:creationId xmlns:p14="http://schemas.microsoft.com/office/powerpoint/2010/main" val="397378727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Papyrus"/>
        <a:ea typeface=""/>
        <a:cs typeface=""/>
      </a:majorFont>
      <a:minorFont>
        <a:latin typeface="Papyru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385</Words>
  <Application>Microsoft Office PowerPoint</Application>
  <PresentationFormat>On-screen Show (4:3)</PresentationFormat>
  <Paragraphs>37</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Jesus Superior Humanity</vt:lpstr>
      <vt:lpstr>INTRODUCTION</vt:lpstr>
      <vt:lpstr>Regaining man from a lost dominion(5-9)</vt:lpstr>
      <vt:lpstr>Bringing sons to the Father (10-13)</vt:lpstr>
      <vt:lpstr>Concurring death’s power (14-16)</vt:lpstr>
      <vt:lpstr>Being the sympathetic high priest (17-18)</vt:lpstr>
      <vt:lpstr>CLOSING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Jesus Superior Humanity</dc:title>
  <dc:creator>DEREK</dc:creator>
  <cp:lastModifiedBy>DEREK</cp:lastModifiedBy>
  <cp:revision>7</cp:revision>
  <dcterms:created xsi:type="dcterms:W3CDTF">2014-02-20T14:01:18Z</dcterms:created>
  <dcterms:modified xsi:type="dcterms:W3CDTF">2014-02-20T15:23:59Z</dcterms:modified>
</cp:coreProperties>
</file>