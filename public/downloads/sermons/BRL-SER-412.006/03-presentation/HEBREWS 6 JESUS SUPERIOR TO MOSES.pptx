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 id="260" r:id="rId7"/>
    <p:sldId id="261"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134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743F675-BCB0-439B-8BED-5E5D53B27AE2}"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24938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43F675-BCB0-439B-8BED-5E5D53B27AE2}"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416259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43F675-BCB0-439B-8BED-5E5D53B27AE2}"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73538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743F675-BCB0-439B-8BED-5E5D53B27AE2}"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38418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743F675-BCB0-439B-8BED-5E5D53B27AE2}" type="datetimeFigureOut">
              <a:rPr lang="en-US" smtClean="0"/>
              <a:t>2/20/2014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44321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743F675-BCB0-439B-8BED-5E5D53B27AE2}" type="datetimeFigureOut">
              <a:rPr lang="en-US" smtClean="0"/>
              <a:t>2/20/2014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310992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3F675-BCB0-439B-8BED-5E5D53B27AE2}" type="datetimeFigureOut">
              <a:rPr lang="en-US" smtClean="0"/>
              <a:t>2/20/2014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941366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43F675-BCB0-439B-8BED-5E5D53B27AE2}"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422885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43F675-BCB0-439B-8BED-5E5D53B27AE2}"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013856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43F675-BCB0-439B-8BED-5E5D53B27AE2}"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96903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43F675-BCB0-439B-8BED-5E5D53B27AE2}"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66676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3F675-BCB0-439B-8BED-5E5D53B27AE2}" type="datetimeFigureOut">
              <a:rPr lang="en-US" smtClean="0"/>
              <a:t>2/20/2014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B70DCD-6328-4BEB-A688-AF7C10A323A8}" type="slidenum">
              <a:rPr lang="en-US" smtClean="0"/>
              <a:t>‹#›</a:t>
            </a:fld>
            <a:endParaRPr lang="en-US"/>
          </a:p>
        </p:txBody>
      </p:sp>
    </p:spTree>
    <p:extLst>
      <p:ext uri="{BB962C8B-B14F-4D97-AF65-F5344CB8AC3E}">
        <p14:creationId xmlns:p14="http://schemas.microsoft.com/office/powerpoint/2010/main" val="401911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877281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2990850"/>
          </a:xfrm>
        </p:spPr>
        <p:txBody>
          <a:bodyPr>
            <a:normAutofit/>
          </a:bodyPr>
          <a:lstStyle/>
          <a:p>
            <a:r>
              <a:rPr lang="en-US" sz="6000" dirty="0" smtClean="0">
                <a:effectLst>
                  <a:outerShdw blurRad="38100" dist="38100" dir="2700000" algn="tl">
                    <a:srgbClr val="000000">
                      <a:alpha val="43137"/>
                    </a:srgbClr>
                  </a:outerShdw>
                </a:effectLst>
                <a:latin typeface="Papyrus" panose="03070502060502030205" pitchFamily="66" charset="0"/>
              </a:rPr>
              <a:t>JESUS IS SUPERIOR TO MOSES</a:t>
            </a:r>
            <a:endParaRPr lang="en-US" sz="6000" dirty="0">
              <a:effectLst>
                <a:outerShdw blurRad="38100" dist="38100" dir="2700000" algn="tl">
                  <a:srgbClr val="000000">
                    <a:alpha val="43137"/>
                  </a:srgbClr>
                </a:outerShdw>
              </a:effectLst>
              <a:latin typeface="Papyrus" panose="03070502060502030205" pitchFamily="66" charset="0"/>
            </a:endParaRPr>
          </a:p>
        </p:txBody>
      </p:sp>
      <p:sp>
        <p:nvSpPr>
          <p:cNvPr id="3" name="Subtitle 2"/>
          <p:cNvSpPr>
            <a:spLocks noGrp="1"/>
          </p:cNvSpPr>
          <p:nvPr>
            <p:ph type="subTitle" idx="1"/>
          </p:nvPr>
        </p:nvSpPr>
        <p:spPr>
          <a:xfrm>
            <a:off x="1371600" y="4800600"/>
            <a:ext cx="6400800" cy="838200"/>
          </a:xfrm>
        </p:spPr>
        <p:txBody>
          <a:bodyPr>
            <a:normAutofit/>
          </a:bodyPr>
          <a:lstStyle/>
          <a:p>
            <a:r>
              <a:rPr lang="en-US" sz="4000" dirty="0" smtClean="0">
                <a:solidFill>
                  <a:schemeClr val="tx1"/>
                </a:solidFill>
                <a:effectLst>
                  <a:outerShdw blurRad="38100" dist="38100" dir="2700000" algn="tl">
                    <a:srgbClr val="000000">
                      <a:alpha val="43137"/>
                    </a:srgbClr>
                  </a:outerShdw>
                </a:effectLst>
              </a:rPr>
              <a:t>Heb 3:1-6</a:t>
            </a:r>
            <a:endParaRPr lang="en-US" sz="4000"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1880084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dirty="0" smtClean="0">
                <a:effectLst>
                  <a:outerShdw blurRad="38100" dist="38100" dir="2700000" algn="tl">
                    <a:srgbClr val="000000">
                      <a:alpha val="43137"/>
                    </a:srgbClr>
                  </a:outerShdw>
                </a:effectLst>
              </a:rPr>
              <a:t>Introduction</a:t>
            </a:r>
            <a:r>
              <a:rPr lang="en-US" dirty="0" smtClean="0">
                <a:effectLst>
                  <a:outerShdw blurRad="38100" dist="38100" dir="2700000" algn="tl">
                    <a:srgbClr val="000000">
                      <a:alpha val="43137"/>
                    </a:srgbClr>
                  </a:outerShdw>
                </a:effectLst>
              </a:rPr>
              <a:t>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sz="3600" dirty="0" smtClean="0">
                <a:effectLst>
                  <a:outerShdw blurRad="38100" dist="38100" dir="2700000" algn="tl">
                    <a:srgbClr val="000000">
                      <a:alpha val="43137"/>
                    </a:srgbClr>
                  </a:outerShdw>
                </a:effectLst>
              </a:rPr>
              <a:t>Chapters one and two showed Jesus being superior to the prophets and then the angels.</a:t>
            </a:r>
          </a:p>
          <a:p>
            <a:r>
              <a:rPr lang="en-US" sz="3600" dirty="0" smtClean="0">
                <a:effectLst>
                  <a:outerShdw blurRad="38100" dist="38100" dir="2700000" algn="tl">
                    <a:srgbClr val="000000">
                      <a:alpha val="43137"/>
                    </a:srgbClr>
                  </a:outerShdw>
                </a:effectLst>
              </a:rPr>
              <a:t>And now chapter three will show Jesus to be superior to Moses</a:t>
            </a:r>
          </a:p>
          <a:p>
            <a:r>
              <a:rPr lang="en-US" sz="3600" dirty="0" smtClean="0">
                <a:effectLst>
                  <a:outerShdw blurRad="38100" dist="38100" dir="2700000" algn="tl">
                    <a:srgbClr val="000000">
                      <a:alpha val="43137"/>
                    </a:srgbClr>
                  </a:outerShdw>
                </a:effectLst>
              </a:rPr>
              <a:t>How better to convince them than to show Jesus superior to the Law giver Moses</a:t>
            </a:r>
          </a:p>
          <a:p>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9308997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Considering Jesus (1)</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600" dirty="0" smtClean="0">
                <a:effectLst>
                  <a:outerShdw blurRad="38100" dist="38100" dir="2700000" algn="tl">
                    <a:srgbClr val="000000">
                      <a:alpha val="43137"/>
                    </a:srgbClr>
                  </a:outerShdw>
                </a:effectLst>
              </a:rPr>
              <a:t>Called “holy brothers”</a:t>
            </a:r>
          </a:p>
          <a:p>
            <a:r>
              <a:rPr lang="en-US" sz="3600" dirty="0" smtClean="0">
                <a:effectLst>
                  <a:outerShdw blurRad="38100" dist="38100" dir="2700000" algn="tl">
                    <a:srgbClr val="000000">
                      <a:alpha val="43137"/>
                    </a:srgbClr>
                  </a:outerShdw>
                </a:effectLst>
              </a:rPr>
              <a:t>Partakers of the “heavenly calling”</a:t>
            </a:r>
          </a:p>
          <a:p>
            <a:r>
              <a:rPr lang="en-US" sz="3600" dirty="0" smtClean="0">
                <a:effectLst>
                  <a:outerShdw blurRad="38100" dist="38100" dir="2700000" algn="tl">
                    <a:srgbClr val="000000">
                      <a:alpha val="43137"/>
                    </a:srgbClr>
                  </a:outerShdw>
                </a:effectLst>
              </a:rPr>
              <a:t>2 Thess 2:13-14; 1 Thess 2:12</a:t>
            </a:r>
          </a:p>
          <a:p>
            <a:r>
              <a:rPr lang="en-US" sz="3600" dirty="0" smtClean="0">
                <a:effectLst>
                  <a:outerShdw blurRad="38100" dist="38100" dir="2700000" algn="tl">
                    <a:srgbClr val="000000">
                      <a:alpha val="43137"/>
                    </a:srgbClr>
                  </a:outerShdw>
                </a:effectLst>
              </a:rPr>
              <a:t>Considering Jesus as Apostle and High Priest</a:t>
            </a:r>
          </a:p>
          <a:p>
            <a:pPr lvl="1"/>
            <a:r>
              <a:rPr lang="en-US" sz="3200" dirty="0" smtClean="0">
                <a:effectLst>
                  <a:outerShdw blurRad="38100" dist="38100" dir="2700000" algn="tl">
                    <a:srgbClr val="000000">
                      <a:alpha val="43137"/>
                    </a:srgbClr>
                  </a:outerShdw>
                </a:effectLst>
              </a:rPr>
              <a:t>Apostle – Acts 3:22-26; Jn 7:16</a:t>
            </a:r>
          </a:p>
          <a:p>
            <a:pPr lvl="1"/>
            <a:r>
              <a:rPr lang="en-US" sz="3200" dirty="0" smtClean="0">
                <a:effectLst>
                  <a:outerShdw blurRad="38100" dist="38100" dir="2700000" algn="tl">
                    <a:srgbClr val="000000">
                      <a:alpha val="43137"/>
                    </a:srgbClr>
                  </a:outerShdw>
                </a:effectLst>
              </a:rPr>
              <a:t>High priest  - Heb 2:17; 4:14; 7:24-28</a:t>
            </a:r>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9955903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The House and the Builder (2-4)</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sz="3600" dirty="0" smtClean="0">
                <a:effectLst>
                  <a:outerShdw blurRad="38100" dist="38100" dir="2700000" algn="tl">
                    <a:srgbClr val="000000">
                      <a:alpha val="43137"/>
                    </a:srgbClr>
                  </a:outerShdw>
                </a:effectLst>
              </a:rPr>
              <a:t>The faithfulness of Jesus and Moses to God who appointed them </a:t>
            </a:r>
            <a:r>
              <a:rPr lang="en-US" sz="3600" dirty="0" err="1" smtClean="0">
                <a:effectLst>
                  <a:outerShdw blurRad="38100" dist="38100" dir="2700000" algn="tl">
                    <a:srgbClr val="000000">
                      <a:alpha val="43137"/>
                    </a:srgbClr>
                  </a:outerShdw>
                </a:effectLst>
              </a:rPr>
              <a:t>taskes</a:t>
            </a:r>
            <a:endParaRPr lang="en-US" sz="3600" dirty="0" smtClean="0">
              <a:effectLst>
                <a:outerShdw blurRad="38100" dist="38100" dir="2700000" algn="tl">
                  <a:srgbClr val="000000">
                    <a:alpha val="43137"/>
                  </a:srgbClr>
                </a:outerShdw>
              </a:effectLst>
            </a:endParaRPr>
          </a:p>
          <a:p>
            <a:pPr lvl="1"/>
            <a:r>
              <a:rPr lang="en-US" sz="3200" dirty="0" smtClean="0">
                <a:effectLst>
                  <a:outerShdw blurRad="38100" dist="38100" dir="2700000" algn="tl">
                    <a:srgbClr val="000000">
                      <a:alpha val="43137"/>
                    </a:srgbClr>
                  </a:outerShdw>
                </a:effectLst>
              </a:rPr>
              <a:t>Jn 17:4; </a:t>
            </a:r>
            <a:r>
              <a:rPr lang="en-US" sz="3200" dirty="0" err="1" smtClean="0">
                <a:effectLst>
                  <a:outerShdw blurRad="38100" dist="38100" dir="2700000" algn="tl">
                    <a:srgbClr val="000000">
                      <a:alpha val="43137"/>
                    </a:srgbClr>
                  </a:outerShdw>
                </a:effectLst>
              </a:rPr>
              <a:t>Num</a:t>
            </a:r>
            <a:r>
              <a:rPr lang="en-US" sz="3200" dirty="0" smtClean="0">
                <a:effectLst>
                  <a:outerShdw blurRad="38100" dist="38100" dir="2700000" algn="tl">
                    <a:srgbClr val="000000">
                      <a:alpha val="43137"/>
                    </a:srgbClr>
                  </a:outerShdw>
                </a:effectLst>
              </a:rPr>
              <a:t> 12:6-8</a:t>
            </a:r>
          </a:p>
          <a:p>
            <a:r>
              <a:rPr lang="en-US" sz="3600" dirty="0" smtClean="0">
                <a:effectLst>
                  <a:outerShdw blurRad="38100" dist="38100" dir="2700000" algn="tl">
                    <a:srgbClr val="000000">
                      <a:alpha val="43137"/>
                    </a:srgbClr>
                  </a:outerShdw>
                </a:effectLst>
              </a:rPr>
              <a:t>Jesus is the builder/creator of the world   </a:t>
            </a:r>
          </a:p>
          <a:p>
            <a:pPr lvl="1"/>
            <a:r>
              <a:rPr lang="en-US" dirty="0" smtClean="0">
                <a:effectLst>
                  <a:outerShdw blurRad="38100" dist="38100" dir="2700000" algn="tl">
                    <a:srgbClr val="000000">
                      <a:alpha val="43137"/>
                    </a:srgbClr>
                  </a:outerShdw>
                </a:effectLst>
              </a:rPr>
              <a:t> Jn 1:1-3</a:t>
            </a:r>
          </a:p>
          <a:p>
            <a:endParaRPr lang="en-US" dirty="0" smtClean="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6320546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Jesus the greater Minister (5-6)</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effectLst>
                  <a:outerShdw blurRad="38100" dist="38100" dir="2700000" algn="tl">
                    <a:srgbClr val="000000">
                      <a:alpha val="43137"/>
                    </a:srgbClr>
                  </a:outerShdw>
                </a:effectLst>
              </a:rPr>
              <a:t>Moses was a faithful servant</a:t>
            </a:r>
          </a:p>
          <a:p>
            <a:pPr lvl="1"/>
            <a:r>
              <a:rPr lang="en-US" dirty="0" smtClean="0">
                <a:effectLst>
                  <a:outerShdw blurRad="38100" dist="38100" dir="2700000" algn="tl">
                    <a:srgbClr val="000000">
                      <a:alpha val="43137"/>
                    </a:srgbClr>
                  </a:outerShdw>
                </a:effectLst>
              </a:rPr>
              <a:t>Moses ministry was to testify of the Law to come Deut 18:15-19; Lk 24:44</a:t>
            </a:r>
          </a:p>
          <a:p>
            <a:pPr lvl="1"/>
            <a:r>
              <a:rPr lang="en-US" dirty="0" smtClean="0">
                <a:effectLst>
                  <a:outerShdw blurRad="38100" dist="38100" dir="2700000" algn="tl">
                    <a:srgbClr val="000000">
                      <a:alpha val="43137"/>
                    </a:srgbClr>
                  </a:outerShdw>
                </a:effectLst>
              </a:rPr>
              <a:t>Moses was a servant in the house</a:t>
            </a:r>
          </a:p>
          <a:p>
            <a:r>
              <a:rPr lang="en-US" dirty="0" smtClean="0">
                <a:effectLst>
                  <a:outerShdw blurRad="38100" dist="38100" dir="2700000" algn="tl">
                    <a:srgbClr val="000000">
                      <a:alpha val="43137"/>
                    </a:srgbClr>
                  </a:outerShdw>
                </a:effectLst>
              </a:rPr>
              <a:t>Jesus was a faithful son</a:t>
            </a:r>
          </a:p>
          <a:p>
            <a:pPr lvl="1"/>
            <a:r>
              <a:rPr lang="en-US" dirty="0" smtClean="0">
                <a:effectLst>
                  <a:outerShdw blurRad="38100" dist="38100" dir="2700000" algn="tl">
                    <a:srgbClr val="000000">
                      <a:alpha val="43137"/>
                    </a:srgbClr>
                  </a:outerShdw>
                </a:effectLst>
              </a:rPr>
              <a:t>Jesus served in the house (Jn 17:4) </a:t>
            </a:r>
          </a:p>
          <a:p>
            <a:pPr lvl="1"/>
            <a:r>
              <a:rPr lang="en-US" dirty="0" smtClean="0">
                <a:effectLst>
                  <a:outerShdw blurRad="38100" dist="38100" dir="2700000" algn="tl">
                    <a:srgbClr val="000000">
                      <a:alpha val="43137"/>
                    </a:srgbClr>
                  </a:outerShdw>
                </a:effectLst>
              </a:rPr>
              <a:t>but inherited the house (Mt 28:18; Jn 3:35; Eph 1:22)</a:t>
            </a:r>
          </a:p>
        </p:txBody>
      </p:sp>
    </p:spTree>
    <p:extLst>
      <p:ext uri="{BB962C8B-B14F-4D97-AF65-F5344CB8AC3E}">
        <p14:creationId xmlns:p14="http://schemas.microsoft.com/office/powerpoint/2010/main" val="25235976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4038600" cy="869950"/>
          </a:xfrm>
        </p:spPr>
        <p:txBody>
          <a:bodyPr>
            <a:normAutofit/>
          </a:bodyPr>
          <a:lstStyle/>
          <a:p>
            <a:r>
              <a:rPr lang="en-US" sz="4400" dirty="0" smtClean="0">
                <a:effectLst>
                  <a:outerShdw blurRad="38100" dist="38100" dir="2700000" algn="tl">
                    <a:srgbClr val="000000">
                      <a:alpha val="43137"/>
                    </a:srgbClr>
                  </a:outerShdw>
                </a:effectLst>
              </a:rPr>
              <a:t>CLOSING</a:t>
            </a:r>
            <a:endParaRPr lang="en-US" sz="4400"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457200" y="1143000"/>
            <a:ext cx="4038600" cy="5410200"/>
          </a:xfrm>
        </p:spPr>
        <p:txBody>
          <a:bodyPr>
            <a:normAutofit fontScale="25000" lnSpcReduction="20000"/>
          </a:bodyPr>
          <a:lstStyle/>
          <a:p>
            <a:r>
              <a:rPr lang="en-US" sz="12800" dirty="0" smtClean="0">
                <a:effectLst>
                  <a:outerShdw blurRad="38100" dist="38100" dir="2700000" algn="tl">
                    <a:srgbClr val="000000">
                      <a:alpha val="43137"/>
                    </a:srgbClr>
                  </a:outerShdw>
                </a:effectLst>
              </a:rPr>
              <a:t>HEAR the word of God and BELIEVE that Jesus is the Messiah. CONFESS that you will follow and serve Him as your Lord. REPENT of the life of sin that He has set you free from and be BAPTIZED into Christ entering His Kingdom.</a:t>
            </a:r>
          </a:p>
          <a:p>
            <a:endParaRPr lang="en-US"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953000" y="228600"/>
            <a:ext cx="3733800" cy="6324599"/>
          </a:xfrm>
          <a:blipFill dpi="0" rotWithShape="1">
            <a:blip r:embed="rId3"/>
            <a:srcRect/>
            <a:stretch>
              <a:fillRect l="27000" t="21000"/>
            </a:stretch>
          </a:blipFill>
        </p:spPr>
      </p:pic>
    </p:spTree>
    <p:extLst>
      <p:ext uri="{BB962C8B-B14F-4D97-AF65-F5344CB8AC3E}">
        <p14:creationId xmlns:p14="http://schemas.microsoft.com/office/powerpoint/2010/main" val="83249811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Papyrus"/>
        <a:ea typeface=""/>
        <a:cs typeface=""/>
      </a:majorFont>
      <a:minorFont>
        <a:latin typeface="Papyru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243</Words>
  <Application>Microsoft Office PowerPoint</Application>
  <PresentationFormat>On-screen Show (4:3)</PresentationFormat>
  <Paragraphs>27</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JESUS IS SUPERIOR TO MOSES</vt:lpstr>
      <vt:lpstr>Introduction </vt:lpstr>
      <vt:lpstr>Considering Jesus (1)</vt:lpstr>
      <vt:lpstr>The House and the Builder (2-4)</vt:lpstr>
      <vt:lpstr>Jesus the greater Minister (5-6)</vt:lpstr>
      <vt:lpstr>CLOSING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JESUS IS SUPERIOR TO MOSES</dc:title>
  <dc:creator>DEREK</dc:creator>
  <cp:lastModifiedBy>DEREK</cp:lastModifiedBy>
  <cp:revision>8</cp:revision>
  <dcterms:created xsi:type="dcterms:W3CDTF">2014-02-20T23:56:58Z</dcterms:created>
  <dcterms:modified xsi:type="dcterms:W3CDTF">2014-02-21T01:14:32Z</dcterms:modified>
</cp:coreProperties>
</file>